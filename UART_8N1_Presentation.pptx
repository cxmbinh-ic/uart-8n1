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  <p:sldId id="270" r:id="rId11"/>
    <p:sldId id="267" r:id="rId12"/>
    <p:sldId id="271" r:id="rId13"/>
    <p:sldId id="272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rang tựa đề và tên đề mục" id="{9490D179-15FD-4203-9685-359FFA8EA266}">
          <p14:sldIdLst>
            <p14:sldId id="256"/>
            <p14:sldId id="257"/>
            <p14:sldId id="258"/>
            <p14:sldId id="259"/>
            <p14:sldId id="260"/>
            <p14:sldId id="262"/>
            <p14:sldId id="263"/>
            <p14:sldId id="264"/>
            <p14:sldId id="266"/>
            <p14:sldId id="270"/>
            <p14:sldId id="267"/>
            <p14:sldId id="271"/>
            <p14:sldId id="272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Xm Binh" initials="CB" lastIdx="1" clrIdx="0">
    <p:extLst>
      <p:ext uri="{19B8F6BF-5375-455C-9EA6-DF929625EA0E}">
        <p15:presenceInfo xmlns:p15="http://schemas.microsoft.com/office/powerpoint/2012/main" userId="6b993337bf11408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8000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26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55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20T13:30:20.420" idx="1">
    <p:pos x="10" y="10"/>
    <p:text/>
    <p:extLst>
      <p:ext uri="{C676402C-5697-4E1C-873F-D02D1690AC5C}">
        <p15:threadingInfo xmlns:p15="http://schemas.microsoft.com/office/powerpoint/2012/main" timeZoneBias="-42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6974D5-05D1-4CD0-8BA4-E92A39A9EB52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5B080-6F60-41A3-897F-FD5BF43A8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2329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3C3E66-9809-4172-9F7F-3D85EEF02FC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1A9990-F6A6-4359-A9CC-A9F9DBB14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30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>
            <a:spLocks noGrp="1"/>
          </p:cNvSpPr>
          <p:nvPr>
            <p:ph type="body" idx="1"/>
          </p:nvPr>
        </p:nvSpPr>
        <p:spPr>
          <a:xfrm>
            <a:off x="476250" y="952500"/>
            <a:ext cx="5715000" cy="476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UART controller configured for 8 data bits, no parity and one stop bit.</a:t>
            </a:r>
            <a:endParaRPr lang="en-US" sz="1400"/>
          </a:p>
          <a:p>
            <a:pPr algn="l">
              <a:lnSpc>
                <a:spcPct val="110000"/>
              </a:lnSpc>
              <a:buNone/>
            </a:pPr>
            <a:endParaRPr lang="en-US" sz="1400"/>
          </a:p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Source: UART 8N1 full</a:t>
            </a:r>
            <a:endParaRPr lang="en-US" sz="1400"/>
          </a:p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https://docs.google.com/document/d/17Au_pMJEInJm9FcX5MmbhdXGJXfIqr5DqbhTCfcQv7o</a:t>
            </a:r>
            <a:endParaRPr lang="en-US" sz="14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>
            <a:spLocks noGrp="1"/>
          </p:cNvSpPr>
          <p:nvPr>
            <p:ph type="body" idx="1"/>
          </p:nvPr>
        </p:nvSpPr>
        <p:spPr>
          <a:xfrm>
            <a:off x="476250" y="952500"/>
            <a:ext cx="5715000" cy="476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8N1 means 8 data bits, no parity and one stop bit. A complete frame contains 10 bits.</a:t>
            </a:r>
            <a:endParaRPr lang="en-US" sz="1400"/>
          </a:p>
          <a:p>
            <a:pPr algn="l">
              <a:lnSpc>
                <a:spcPct val="110000"/>
              </a:lnSpc>
              <a:buNone/>
            </a:pPr>
            <a:endParaRPr lang="en-US" sz="1400"/>
          </a:p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Source: UART 8N1 full</a:t>
            </a:r>
            <a:endParaRPr lang="en-US" sz="1400"/>
          </a:p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https://docs.google.com/document/d/17Au_pMJEInJm9FcX5MmbhdXGJXfIqr5DqbhTCfcQv7o</a:t>
            </a:r>
            <a:endParaRPr lang="en-US" sz="1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>
            <a:spLocks noGrp="1"/>
          </p:cNvSpPr>
          <p:nvPr>
            <p:ph type="body" idx="1"/>
          </p:nvPr>
        </p:nvSpPr>
        <p:spPr>
          <a:xfrm>
            <a:off x="476250" y="952500"/>
            <a:ext cx="5715000" cy="476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TX and RX share the system clock and baud_tick_x16. The serial RX input is asynchronous to the system clock.</a:t>
            </a:r>
            <a:endParaRPr lang="en-US" sz="1400"/>
          </a:p>
          <a:p>
            <a:pPr algn="l">
              <a:lnSpc>
                <a:spcPct val="110000"/>
              </a:lnSpc>
              <a:buNone/>
            </a:pPr>
            <a:endParaRPr lang="en-US" sz="1400"/>
          </a:p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Source: UART 8N1 full</a:t>
            </a:r>
            <a:endParaRPr lang="en-US" sz="1400"/>
          </a:p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https://docs.google.com/document/d/17Au_pMJEInJm9FcX5MmbhdXGJXfIqr5DqbhTCfcQv7o</a:t>
            </a:r>
            <a:endParaRPr lang="en-US" sz="1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>
            <a:spLocks noGrp="1"/>
          </p:cNvSpPr>
          <p:nvPr>
            <p:ph type="body" idx="1"/>
          </p:nvPr>
        </p:nvSpPr>
        <p:spPr>
          <a:xfrm>
            <a:off x="476250" y="952500"/>
            <a:ext cx="5715000" cy="476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The tick is a one-system-clock-cycle timing enable. It occurs once every 27 clk cycles. It is not a separate clock domain.</a:t>
            </a:r>
            <a:endParaRPr lang="en-US" sz="1400"/>
          </a:p>
          <a:p>
            <a:pPr algn="l">
              <a:lnSpc>
                <a:spcPct val="110000"/>
              </a:lnSpc>
              <a:buNone/>
            </a:pPr>
            <a:endParaRPr lang="en-US" sz="1400"/>
          </a:p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Source: UART 8N1 full</a:t>
            </a:r>
            <a:endParaRPr lang="en-US" sz="1400"/>
          </a:p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https://docs.google.com/document/d/17Au_pMJEInJm9FcX5MmbhdXGJXfIqr5DqbhTCfcQv7o</a:t>
            </a:r>
            <a:endParaRPr lang="en-US" sz="1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>
            <a:spLocks noGrp="1"/>
          </p:cNvSpPr>
          <p:nvPr>
            <p:ph type="body" idx="1"/>
          </p:nvPr>
        </p:nvSpPr>
        <p:spPr>
          <a:xfrm>
            <a:off x="476250" y="952500"/>
            <a:ext cx="5715000" cy="476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The integer divider makes the actual baud rate slightly higher than the target. TX advances at the bit boundary. RX samples near the middle of each bit.</a:t>
            </a:r>
            <a:endParaRPr lang="en-US" sz="1400"/>
          </a:p>
          <a:p>
            <a:pPr algn="l">
              <a:lnSpc>
                <a:spcPct val="110000"/>
              </a:lnSpc>
              <a:buNone/>
            </a:pPr>
            <a:endParaRPr lang="en-US" sz="1400"/>
          </a:p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Source: UART 8N1 full</a:t>
            </a:r>
            <a:endParaRPr lang="en-US" sz="1400"/>
          </a:p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https://docs.google.com/document/d/17Au_pMJEInJm9FcX5MmbhdXGJXfIqr5DqbhTCfcQv7o</a:t>
            </a:r>
            <a:endParaRPr lang="en-US" sz="1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>
            <a:spLocks noGrp="1"/>
          </p:cNvSpPr>
          <p:nvPr>
            <p:ph type="body" idx="1"/>
          </p:nvPr>
        </p:nvSpPr>
        <p:spPr>
          <a:xfrm>
            <a:off x="476250" y="952500"/>
            <a:ext cx="5715000" cy="476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The TX FSM follows IDLE, START, DATA and STOP. It counts 16 baud_tick_x16 pulses per bit.</a:t>
            </a:r>
            <a:endParaRPr lang="en-US" sz="1400"/>
          </a:p>
          <a:p>
            <a:pPr algn="l">
              <a:lnSpc>
                <a:spcPct val="110000"/>
              </a:lnSpc>
              <a:buNone/>
            </a:pPr>
            <a:endParaRPr lang="en-US" sz="1400"/>
          </a:p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Source: UART 8N1 full</a:t>
            </a:r>
            <a:endParaRPr lang="en-US" sz="1400"/>
          </a:p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https://docs.google.com/document/d/17Au_pMJEInJm9FcX5MmbhdXGJXfIqr5DqbhTCfcQv7o</a:t>
            </a:r>
            <a:endParaRPr lang="en-US" sz="1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>
            <a:spLocks noGrp="1"/>
          </p:cNvSpPr>
          <p:nvPr>
            <p:ph type="body" idx="1"/>
          </p:nvPr>
        </p:nvSpPr>
        <p:spPr>
          <a:xfrm>
            <a:off x="476250" y="952500"/>
            <a:ext cx="5715000" cy="476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bit_end = baud_tick_x16 &amp;&amp; (oversample_counter == 15). This marks a bit boundary. TX does not sample incoming data at this point.</a:t>
            </a:r>
            <a:endParaRPr lang="en-US" sz="1400"/>
          </a:p>
          <a:p>
            <a:pPr algn="l">
              <a:lnSpc>
                <a:spcPct val="110000"/>
              </a:lnSpc>
              <a:buNone/>
            </a:pPr>
            <a:endParaRPr lang="en-US" sz="1400"/>
          </a:p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Source: UART 8N1 full</a:t>
            </a:r>
            <a:endParaRPr lang="en-US" sz="1400"/>
          </a:p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https://docs.google.com/document/d/17Au_pMJEInJm9FcX5MmbhdXGJXfIqr5DqbhTCfcQv7o</a:t>
            </a:r>
            <a:endParaRPr lang="en-US" sz="1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>
            <a:spLocks noGrp="1"/>
          </p:cNvSpPr>
          <p:nvPr>
            <p:ph type="body" idx="1"/>
          </p:nvPr>
        </p:nvSpPr>
        <p:spPr>
          <a:xfrm>
            <a:off x="476250" y="952500"/>
            <a:ext cx="5715000" cy="476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The chain is rx, rx_sync0, rx_sync1. It gives the first stage time to settle and reduces the chance of metastability propagating. It does not guarantee zero risk or correct arbitrary data errors.</a:t>
            </a:r>
            <a:endParaRPr lang="en-US" sz="1400"/>
          </a:p>
          <a:p>
            <a:pPr algn="l">
              <a:lnSpc>
                <a:spcPct val="110000"/>
              </a:lnSpc>
              <a:buNone/>
            </a:pPr>
            <a:endParaRPr lang="en-US" sz="1400"/>
          </a:p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Source: UART 8N1 full</a:t>
            </a:r>
            <a:endParaRPr lang="en-US" sz="1400"/>
          </a:p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https://docs.google.com/document/d/17Au_pMJEInJm9FcX5MmbhdXGJXfIqr5DqbhTCfcQv7o</a:t>
            </a:r>
            <a:endParaRPr lang="en-US" sz="1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>
            <a:spLocks noGrp="1"/>
          </p:cNvSpPr>
          <p:nvPr>
            <p:ph type="body" idx="1"/>
          </p:nvPr>
        </p:nvSpPr>
        <p:spPr>
          <a:xfrm>
            <a:off x="476250" y="952500"/>
            <a:ext cx="5715000" cy="476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In START, a high line at mid_bit returns RX to IDLE. A low line at bit_end moves RX to DATA. After D7, RX enters STOP. In STOP, the mid-bit check controls data-valid output, while the end-of-bit check controls the next state.</a:t>
            </a:r>
            <a:endParaRPr lang="en-US" sz="1400"/>
          </a:p>
          <a:p>
            <a:pPr algn="l">
              <a:lnSpc>
                <a:spcPct val="110000"/>
              </a:lnSpc>
              <a:buNone/>
            </a:pPr>
            <a:endParaRPr lang="en-US" sz="1400"/>
          </a:p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Source: UART 8N1 full</a:t>
            </a:r>
            <a:endParaRPr lang="en-US" sz="1400"/>
          </a:p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https://docs.google.com/document/d/17Au_pMJEInJm9FcX5MmbhdXGJXfIqr5DqbhTCfcQv7o</a:t>
            </a:r>
            <a:endParaRPr lang="en-US" sz="1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>
            <a:spLocks noGrp="1"/>
          </p:cNvSpPr>
          <p:nvPr>
            <p:ph type="body" idx="1"/>
          </p:nvPr>
        </p:nvSpPr>
        <p:spPr>
          <a:xfrm>
            <a:off x="476250" y="952500"/>
            <a:ext cx="5715000" cy="476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This describes the current RTL, not all UART implementations. rx_data_out returns to zero when rx_valid is low. STOP can assert valid at its midpoint and later enter ERROR if the line is low at its end.</a:t>
            </a:r>
            <a:endParaRPr lang="en-US" sz="1400"/>
          </a:p>
          <a:p>
            <a:pPr algn="l">
              <a:lnSpc>
                <a:spcPct val="110000"/>
              </a:lnSpc>
              <a:buNone/>
            </a:pPr>
            <a:endParaRPr lang="en-US" sz="1400"/>
          </a:p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Source: UART 8N1 full</a:t>
            </a:r>
            <a:endParaRPr lang="en-US" sz="1400"/>
          </a:p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https://docs.google.com/document/d/17Au_pMJEInJm9FcX5MmbhdXGJXfIqr5DqbhTCfcQv7o</a:t>
            </a:r>
            <a:endParaRPr lang="en-US" sz="1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>
            <a:spLocks noGrp="1"/>
          </p:cNvSpPr>
          <p:nvPr>
            <p:ph type="body" idx="1"/>
          </p:nvPr>
        </p:nvSpPr>
        <p:spPr>
          <a:xfrm>
            <a:off x="476250" y="952500"/>
            <a:ext cx="5715000" cy="476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The source document describes the test setup and the valid-data interval. It does not provide a numerical pass count. Do not interpret this slide as a claim of exhaustive verification.</a:t>
            </a:r>
            <a:endParaRPr lang="en-US" sz="1400"/>
          </a:p>
          <a:p>
            <a:pPr algn="l">
              <a:lnSpc>
                <a:spcPct val="110000"/>
              </a:lnSpc>
              <a:buNone/>
            </a:pPr>
            <a:endParaRPr lang="en-US" sz="1400"/>
          </a:p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Source: UART 8N1 full</a:t>
            </a:r>
            <a:endParaRPr lang="en-US" sz="1400"/>
          </a:p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https://docs.google.com/document/d/17Au_pMJEInJm9FcX5MmbhdXGJXfIqr5DqbhTCfcQv7o</a:t>
            </a:r>
            <a:endParaRPr lang="en-US" sz="14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>
            <a:spLocks noGrp="1"/>
          </p:cNvSpPr>
          <p:nvPr>
            <p:ph type="body" idx="1"/>
          </p:nvPr>
        </p:nvSpPr>
        <p:spPr>
          <a:xfrm>
            <a:off x="476250" y="952500"/>
            <a:ext cx="5715000" cy="476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The presentation follows the current UART 8N1 full Google Doc. No additional performance or hardware validation claims are made.</a:t>
            </a:r>
            <a:endParaRPr lang="en-US" sz="1400"/>
          </a:p>
          <a:p>
            <a:pPr algn="l">
              <a:lnSpc>
                <a:spcPct val="110000"/>
              </a:lnSpc>
              <a:buNone/>
            </a:pPr>
            <a:endParaRPr lang="en-US" sz="1400"/>
          </a:p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Source: UART 8N1 full</a:t>
            </a:r>
            <a:endParaRPr lang="en-US" sz="1400"/>
          </a:p>
          <a:p>
            <a:pPr algn="l">
              <a:lnSpc>
                <a:spcPct val="110000"/>
              </a:lnSpc>
              <a:buNone/>
            </a:pPr>
            <a:r>
              <a:rPr lang="en-US" sz="1400" b="0">
                <a:solidFill>
                  <a:srgbClr val="202020"/>
                </a:solidFill>
                <a:latin typeface="Calibri"/>
              </a:rPr>
              <a:t>https://docs.google.com/document/d/17Au_pMJEInJm9FcX5MmbhdXGJXfIqr5DqbhTCfcQv7o</a:t>
            </a:r>
            <a:endParaRPr lang="en-US" sz="14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050991"/>
            <a:ext cx="9144000" cy="1458972"/>
          </a:xfrm>
        </p:spPr>
        <p:txBody>
          <a:bodyPr anchor="b"/>
          <a:lstStyle>
            <a:lvl1pPr algn="ctr">
              <a:defRPr sz="600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3294994" y="6077313"/>
            <a:ext cx="53450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1300" baseline="0" dirty="0">
                <a:solidFill>
                  <a:schemeClr val="accent1"/>
                </a:solidFill>
              </a:rPr>
              <a:t>VIET</a:t>
            </a:r>
            <a:r>
              <a:rPr lang="en-US" sz="1300" baseline="0" dirty="0">
                <a:solidFill>
                  <a:schemeClr val="accent1"/>
                </a:solidFill>
              </a:rPr>
              <a:t> </a:t>
            </a:r>
            <a:r>
              <a:rPr lang="vi-VN" sz="1300" baseline="0" dirty="0">
                <a:solidFill>
                  <a:schemeClr val="accent1"/>
                </a:solidFill>
              </a:rPr>
              <a:t>NAM NATIONAL UNIVERSITY HO CHI MINH CITY</a:t>
            </a:r>
            <a:endParaRPr lang="en-US" sz="1300" baseline="0" dirty="0">
              <a:solidFill>
                <a:schemeClr val="accent1"/>
              </a:solidFill>
            </a:endParaRPr>
          </a:p>
          <a:p>
            <a:pPr algn="ctr"/>
            <a:r>
              <a:rPr lang="en-US" sz="1600" b="1" baseline="0" dirty="0">
                <a:solidFill>
                  <a:schemeClr val="accent1">
                    <a:lumMod val="50000"/>
                  </a:schemeClr>
                </a:solidFill>
              </a:rPr>
              <a:t>HO CHI MINH CITY UNIVERSITY OF TECHNOLOGY</a:t>
            </a:r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742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306" cy="68578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050991"/>
            <a:ext cx="9144000" cy="1458972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3239814" y="6073041"/>
            <a:ext cx="54154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1300" dirty="0">
                <a:solidFill>
                  <a:schemeClr val="accent1"/>
                </a:solidFill>
              </a:rPr>
              <a:t>VIET</a:t>
            </a:r>
            <a:r>
              <a:rPr lang="en-US" sz="1300" dirty="0">
                <a:solidFill>
                  <a:schemeClr val="accent1"/>
                </a:solidFill>
              </a:rPr>
              <a:t> </a:t>
            </a:r>
            <a:r>
              <a:rPr lang="vi-VN" sz="1300" dirty="0">
                <a:solidFill>
                  <a:schemeClr val="accent1"/>
                </a:solidFill>
              </a:rPr>
              <a:t>NAM NATIONAL UNIVERSITY HO CHI MINH CITY</a:t>
            </a:r>
            <a:endParaRPr lang="en-US" sz="1300" dirty="0">
              <a:solidFill>
                <a:schemeClr val="accent1"/>
              </a:solidFill>
            </a:endParaRPr>
          </a:p>
          <a:p>
            <a:pPr algn="ctr"/>
            <a:r>
              <a:rPr lang="en-US" sz="1600" b="1" dirty="0">
                <a:solidFill>
                  <a:schemeClr val="bg1"/>
                </a:solidFill>
              </a:rPr>
              <a:t>HO CHI MINH CITY UNIVERSITY OF TECHNOLOGY</a:t>
            </a:r>
          </a:p>
        </p:txBody>
      </p:sp>
    </p:spTree>
    <p:extLst>
      <p:ext uri="{BB962C8B-B14F-4D97-AF65-F5344CB8AC3E}">
        <p14:creationId xmlns:p14="http://schemas.microsoft.com/office/powerpoint/2010/main" val="149459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63173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vi-VN" dirty="0"/>
              <a:t>Date: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69996"/>
            <a:ext cx="2743200" cy="365125"/>
          </a:xfrm>
          <a:prstGeom prst="rect">
            <a:avLst/>
          </a:prstGeom>
        </p:spPr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285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33748"/>
            <a:ext cx="10515600" cy="161026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034291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69996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69996"/>
            <a:ext cx="2743200" cy="365125"/>
          </a:xfrm>
          <a:prstGeom prst="rect">
            <a:avLst/>
          </a:prstGeom>
        </p:spPr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332247B-4AC6-DA84-2E70-9F9DED4587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63173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vi-VN" dirty="0"/>
              <a:t>Date: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043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33748"/>
            <a:ext cx="10515600" cy="1610269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034291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C00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69996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69996"/>
            <a:ext cx="2743200" cy="365125"/>
          </a:xfrm>
          <a:prstGeom prst="rect">
            <a:avLst/>
          </a:prstGeom>
        </p:spPr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A927B45-9808-902C-03E0-4E94F9B972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7893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vi-VN" dirty="0"/>
              <a:t>Date: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780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811486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51022" y="1825625"/>
            <a:ext cx="4802777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69996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69996"/>
            <a:ext cx="2743200" cy="365125"/>
          </a:xfrm>
          <a:prstGeom prst="rect">
            <a:avLst/>
          </a:prstGeom>
        </p:spPr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6113412" y="1825625"/>
            <a:ext cx="0" cy="4222478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30000">
                  <a:schemeClr val="accent1">
                    <a:lumMod val="50000"/>
                  </a:schemeClr>
                </a:gs>
                <a:gs pos="81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026C646E-819B-1754-0CF2-42B1BA6069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63173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vi-VN" dirty="0"/>
              <a:t>Date: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48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544286"/>
            <a:ext cx="4809898" cy="783771"/>
          </a:xfrm>
          <a:solidFill>
            <a:schemeClr val="accent1">
              <a:lumMod val="5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621971"/>
            <a:ext cx="4809899" cy="45676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1097" y="544285"/>
            <a:ext cx="4797834" cy="783772"/>
          </a:xfrm>
          <a:solidFill>
            <a:schemeClr val="accent1">
              <a:lumMod val="5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7554" y="1621971"/>
            <a:ext cx="4797834" cy="456769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69996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69996"/>
            <a:ext cx="2743200" cy="365125"/>
          </a:xfrm>
          <a:prstGeom prst="rect">
            <a:avLst/>
          </a:prstGeom>
        </p:spPr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113412" y="544286"/>
            <a:ext cx="0" cy="5503817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30000">
                  <a:schemeClr val="accent1">
                    <a:lumMod val="50000"/>
                  </a:schemeClr>
                </a:gs>
                <a:gs pos="81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09EF9C2-7AB3-3514-C60A-98FC193A20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63173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vi-VN" dirty="0"/>
              <a:t>Date: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057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69996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69996"/>
            <a:ext cx="2743200" cy="365125"/>
          </a:xfrm>
          <a:prstGeom prst="rect">
            <a:avLst/>
          </a:prstGeom>
        </p:spPr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FD8F832-27A2-F38C-7292-777E295400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63173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vi-VN" dirty="0"/>
              <a:t>Date: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21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69996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69996"/>
            <a:ext cx="2743200" cy="365125"/>
          </a:xfrm>
          <a:prstGeom prst="rect">
            <a:avLst/>
          </a:prstGeom>
        </p:spPr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711DAE4-7698-B035-7819-8777AC26CA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63173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vi-VN" dirty="0"/>
              <a:t>Date: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890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69996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69996"/>
            <a:ext cx="2743200" cy="365125"/>
          </a:xfrm>
          <a:prstGeom prst="rect">
            <a:avLst/>
          </a:prstGeom>
        </p:spPr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4744764-2963-85D4-72EC-3ECD8D2549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63173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vi-VN" dirty="0"/>
              <a:t>Date: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7307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0"/>
            <a:ext cx="7008812" cy="6858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22137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38200" y="1881156"/>
            <a:ext cx="3933825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6943557-1C11-EC7F-E6EE-498CBD3401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63173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vi-VN" dirty="0"/>
              <a:t>Date: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386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22137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229224" y="0"/>
            <a:ext cx="6962775" cy="6858000"/>
          </a:xfrm>
          <a:solidFill>
            <a:schemeClr val="accent5">
              <a:lumMod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69996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69996"/>
            <a:ext cx="2743200" cy="365125"/>
          </a:xfrm>
          <a:prstGeom prst="rect">
            <a:avLst/>
          </a:prstGeom>
        </p:spPr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838200" y="1881156"/>
            <a:ext cx="3933825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70667B5B-51CB-D2AD-D39B-23C2771178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63173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vi-VN" dirty="0"/>
              <a:t>Date: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41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69996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69996"/>
            <a:ext cx="2743200" cy="365125"/>
          </a:xfrm>
          <a:prstGeom prst="rect">
            <a:avLst/>
          </a:prstGeom>
        </p:spPr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9355D4A-5EC8-5F86-728A-30F76991ED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63173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vi-VN" dirty="0"/>
              <a:t>Date: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9131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69996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69996"/>
            <a:ext cx="2743200" cy="365125"/>
          </a:xfrm>
          <a:prstGeom prst="rect">
            <a:avLst/>
          </a:prstGeom>
        </p:spPr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CE5B4DE-598C-D43B-B0E6-449774A80F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63173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vi-VN" dirty="0"/>
              <a:t>Date: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5445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5"/>
          <p:cNvSpPr>
            <a:spLocks noGrp="1"/>
          </p:cNvSpPr>
          <p:nvPr>
            <p:ph type="pic" sz="quarter" idx="13"/>
          </p:nvPr>
        </p:nvSpPr>
        <p:spPr>
          <a:xfrm>
            <a:off x="1605640" y="1525268"/>
            <a:ext cx="2744390" cy="2744390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  <a:ln w="76200">
            <a:solidFill>
              <a:schemeClr val="accent1"/>
            </a:solidFill>
          </a:ln>
        </p:spPr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1842066" y="4866965"/>
            <a:ext cx="2382601" cy="1113507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en-US" dirty="0"/>
          </a:p>
        </p:txBody>
      </p:sp>
      <p:sp>
        <p:nvSpPr>
          <p:cNvPr id="9" name="Picture Placeholder 45"/>
          <p:cNvSpPr>
            <a:spLocks noGrp="1"/>
          </p:cNvSpPr>
          <p:nvPr>
            <p:ph type="pic" sz="quarter" idx="15"/>
          </p:nvPr>
        </p:nvSpPr>
        <p:spPr>
          <a:xfrm>
            <a:off x="4866712" y="1525268"/>
            <a:ext cx="2744390" cy="2744390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  <a:ln w="76200">
            <a:solidFill>
              <a:srgbClr val="92D050"/>
            </a:solidFill>
          </a:ln>
        </p:spPr>
      </p:sp>
      <p:sp>
        <p:nvSpPr>
          <p:cNvPr id="10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5047607" y="4866965"/>
            <a:ext cx="2382601" cy="1113507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en-US" dirty="0"/>
          </a:p>
        </p:txBody>
      </p:sp>
      <p:sp>
        <p:nvSpPr>
          <p:cNvPr id="11" name="Picture Placeholder 45"/>
          <p:cNvSpPr>
            <a:spLocks noGrp="1"/>
          </p:cNvSpPr>
          <p:nvPr>
            <p:ph type="pic" sz="quarter" idx="17"/>
          </p:nvPr>
        </p:nvSpPr>
        <p:spPr>
          <a:xfrm>
            <a:off x="8072254" y="1525268"/>
            <a:ext cx="2744390" cy="2744390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  <a:ln w="76200">
            <a:solidFill>
              <a:srgbClr val="FFC000"/>
            </a:solidFill>
          </a:ln>
        </p:spPr>
      </p:sp>
      <p:sp>
        <p:nvSpPr>
          <p:cNvPr id="12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8253149" y="4866968"/>
            <a:ext cx="2382601" cy="1113504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991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1762125" y="908228"/>
            <a:ext cx="4171950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5000">
                  <a:srgbClr val="0070C0"/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504826" y="133350"/>
            <a:ext cx="7038974" cy="774878"/>
          </a:xfrm>
        </p:spPr>
        <p:txBody>
          <a:bodyPr anchor="b" anchorCtr="0">
            <a:normAutofit/>
          </a:bodyPr>
          <a:lstStyle>
            <a:lvl1pPr marL="0" indent="0" algn="ctr">
              <a:buNone/>
              <a:defRPr sz="3200" b="1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1762125" y="1038225"/>
            <a:ext cx="4248150" cy="774878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800" i="1"/>
            </a:lvl1pPr>
          </a:lstStyle>
          <a:p>
            <a:pPr lvl="0"/>
            <a:endParaRPr lang="en-US" dirty="0"/>
          </a:p>
        </p:txBody>
      </p:sp>
      <p:sp>
        <p:nvSpPr>
          <p:cNvPr id="12" name="Chart Placeholder 11"/>
          <p:cNvSpPr>
            <a:spLocks noGrp="1"/>
          </p:cNvSpPr>
          <p:nvPr>
            <p:ph type="chart" sz="quarter" idx="12"/>
          </p:nvPr>
        </p:nvSpPr>
        <p:spPr>
          <a:xfrm>
            <a:off x="200025" y="1645006"/>
            <a:ext cx="7115175" cy="428907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69213" y="1645006"/>
            <a:ext cx="3932237" cy="5000091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58935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1762125" y="908228"/>
            <a:ext cx="4171950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5000">
                  <a:srgbClr val="0070C0"/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504826" y="133350"/>
            <a:ext cx="7038974" cy="774878"/>
          </a:xfrm>
        </p:spPr>
        <p:txBody>
          <a:bodyPr anchor="b" anchorCtr="0">
            <a:normAutofit/>
          </a:bodyPr>
          <a:lstStyle>
            <a:lvl1pPr marL="0" indent="0" algn="ctr">
              <a:buNone/>
              <a:defRPr sz="3200" b="1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1762125" y="1038225"/>
            <a:ext cx="4248150" cy="774878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800" i="1"/>
            </a:lvl1pPr>
          </a:lstStyle>
          <a:p>
            <a:pPr lvl="0"/>
            <a:endParaRPr lang="en-US" dirty="0"/>
          </a:p>
        </p:txBody>
      </p:sp>
      <p:sp>
        <p:nvSpPr>
          <p:cNvPr id="12" name="Chart Placeholder 11"/>
          <p:cNvSpPr>
            <a:spLocks noGrp="1"/>
          </p:cNvSpPr>
          <p:nvPr>
            <p:ph type="chart" sz="quarter" idx="12"/>
          </p:nvPr>
        </p:nvSpPr>
        <p:spPr>
          <a:xfrm>
            <a:off x="200025" y="1645006"/>
            <a:ext cx="7115175" cy="428907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69213" y="1645006"/>
            <a:ext cx="3932237" cy="5000091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01996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/>
          <p:cNvSpPr>
            <a:spLocks noGrp="1"/>
          </p:cNvSpPr>
          <p:nvPr>
            <p:ph type="pic" sz="quarter" idx="13"/>
          </p:nvPr>
        </p:nvSpPr>
        <p:spPr>
          <a:xfrm flipH="1">
            <a:off x="758728" y="1163780"/>
            <a:ext cx="2423861" cy="327521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38100">
            <a:solidFill>
              <a:srgbClr val="00B0F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none"/>
        </p:style>
      </p:sp>
      <p:sp>
        <p:nvSpPr>
          <p:cNvPr id="4" name="Picture Placeholder 6"/>
          <p:cNvSpPr>
            <a:spLocks noGrp="1"/>
          </p:cNvSpPr>
          <p:nvPr>
            <p:ph type="pic" sz="quarter" idx="14"/>
          </p:nvPr>
        </p:nvSpPr>
        <p:spPr>
          <a:xfrm flipH="1">
            <a:off x="3564469" y="1163780"/>
            <a:ext cx="2423861" cy="327521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38100">
            <a:solidFill>
              <a:srgbClr val="00B0F0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none"/>
        </p:style>
      </p:sp>
      <p:sp>
        <p:nvSpPr>
          <p:cNvPr id="5" name="Picture Placeholder 7"/>
          <p:cNvSpPr>
            <a:spLocks noGrp="1"/>
          </p:cNvSpPr>
          <p:nvPr>
            <p:ph type="pic" sz="quarter" idx="15"/>
          </p:nvPr>
        </p:nvSpPr>
        <p:spPr>
          <a:xfrm flipH="1">
            <a:off x="6402867" y="1163779"/>
            <a:ext cx="2423861" cy="327521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38100">
            <a:solidFill>
              <a:schemeClr val="accent6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none"/>
        </p:style>
      </p:sp>
      <p:sp>
        <p:nvSpPr>
          <p:cNvPr id="6" name="Picture Placeholder 12"/>
          <p:cNvSpPr>
            <a:spLocks noGrp="1"/>
          </p:cNvSpPr>
          <p:nvPr>
            <p:ph type="pic" sz="quarter" idx="20"/>
          </p:nvPr>
        </p:nvSpPr>
        <p:spPr>
          <a:xfrm flipH="1">
            <a:off x="9104101" y="1163778"/>
            <a:ext cx="2423861" cy="327521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38100">
            <a:solidFill>
              <a:srgbClr val="FFC000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none"/>
        </p:style>
      </p:sp>
      <p:sp>
        <p:nvSpPr>
          <p:cNvPr id="7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758728" y="4625302"/>
            <a:ext cx="2289381" cy="1113507"/>
          </a:xfrm>
        </p:spPr>
        <p:txBody>
          <a:bodyPr>
            <a:noAutofit/>
          </a:bodyPr>
          <a:lstStyle>
            <a:lvl1pPr marL="0" indent="0" algn="ctr">
              <a:buNone/>
              <a:defRPr sz="18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3631708" y="4625302"/>
            <a:ext cx="2289381" cy="1113507"/>
          </a:xfrm>
        </p:spPr>
        <p:txBody>
          <a:bodyPr>
            <a:noAutofit/>
          </a:bodyPr>
          <a:lstStyle>
            <a:lvl1pPr marL="0" indent="0" algn="ctr">
              <a:buNone/>
              <a:defRPr sz="18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6470106" y="4625302"/>
            <a:ext cx="2289381" cy="1113507"/>
          </a:xfrm>
        </p:spPr>
        <p:txBody>
          <a:bodyPr>
            <a:noAutofit/>
          </a:bodyPr>
          <a:lstStyle>
            <a:lvl1pPr marL="0" indent="0" algn="ctr">
              <a:buNone/>
              <a:defRPr sz="18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en-US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9238581" y="4625302"/>
            <a:ext cx="2289381" cy="1113507"/>
          </a:xfrm>
        </p:spPr>
        <p:txBody>
          <a:bodyPr>
            <a:noAutofit/>
          </a:bodyPr>
          <a:lstStyle>
            <a:lvl1pPr marL="0" indent="0" algn="ctr">
              <a:buNone/>
              <a:defRPr sz="18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646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414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8602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1319" y="0"/>
            <a:ext cx="12189361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38000">
                <a:schemeClr val="bg1">
                  <a:alpha val="15000"/>
                </a:schemeClr>
              </a:gs>
              <a:gs pos="84000">
                <a:schemeClr val="bg2">
                  <a:alpha val="30000"/>
                </a:schemeClr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284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50" r:id="rId3"/>
    <p:sldLayoutId id="2147483651" r:id="rId4"/>
    <p:sldLayoutId id="2147483663" r:id="rId5"/>
    <p:sldLayoutId id="2147483652" r:id="rId6"/>
    <p:sldLayoutId id="2147483653" r:id="rId7"/>
    <p:sldLayoutId id="2147483654" r:id="rId8"/>
    <p:sldLayoutId id="2147483655" r:id="rId9"/>
    <p:sldLayoutId id="2147483665" r:id="rId10"/>
    <p:sldLayoutId id="2147483656" r:id="rId11"/>
    <p:sldLayoutId id="2147483657" r:id="rId12"/>
    <p:sldLayoutId id="2147483658" r:id="rId13"/>
    <p:sldLayoutId id="2147483659" r:id="rId14"/>
    <p:sldLayoutId id="2147483664" r:id="rId15"/>
    <p:sldLayoutId id="2147483666" r:id="rId16"/>
    <p:sldLayoutId id="2147483667" r:id="rId17"/>
    <p:sldLayoutId id="2147483668" r:id="rId18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>
            <a:lumMod val="50000"/>
          </a:schemeClr>
        </a:buClr>
        <a:buSzPct val="150000"/>
        <a:buFont typeface="Calibri" panose="020F0502020204030204" pitchFamily="34" charset="0"/>
        <a:buChar char="•"/>
        <a:defRPr sz="2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75000"/>
          </a:schemeClr>
        </a:buClr>
        <a:buSzPct val="150000"/>
        <a:buFont typeface="Calibri" panose="020F0502020204030204" pitchFamily="34" charset="0"/>
        <a:buChar char="•"/>
        <a:defRPr sz="24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50000"/>
        <a:buFont typeface="Calibri" panose="020F0502020204030204" pitchFamily="34" charset="0"/>
        <a:buChar char="•"/>
        <a:defRPr sz="20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40000"/>
            <a:lumOff val="60000"/>
          </a:schemeClr>
        </a:buClr>
        <a:buSzPct val="150000"/>
        <a:buFont typeface="Calibri" panose="020F0502020204030204" pitchFamily="34" charset="0"/>
        <a:buChar char="•"/>
        <a:defRPr sz="1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150000"/>
        <a:buFont typeface="Calibri" panose="020F0502020204030204" pitchFamily="34" charset="0"/>
        <a:buChar char="•"/>
        <a:defRPr sz="1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comments" Target="../comments/commen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esentation title"/>
          <p:cNvSpPr txBox="1"/>
          <p:nvPr/>
        </p:nvSpPr>
        <p:spPr>
          <a:xfrm>
            <a:off x="1592234" y="1804988"/>
            <a:ext cx="78105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0033CC"/>
                </a:solidFill>
                <a:latin typeface="Calibri Light"/>
              </a:rPr>
              <a:t>UART 8N1</a:t>
            </a:r>
            <a:endParaRPr lang="en-US" sz="4000" dirty="0"/>
          </a:p>
        </p:txBody>
      </p:sp>
      <p:sp>
        <p:nvSpPr>
          <p:cNvPr id="12" name="Subtitle"/>
          <p:cNvSpPr txBox="1"/>
          <p:nvPr/>
        </p:nvSpPr>
        <p:spPr>
          <a:xfrm>
            <a:off x="1775113" y="2457450"/>
            <a:ext cx="7810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2500" b="0" dirty="0">
                <a:solidFill>
                  <a:srgbClr val="333333"/>
                </a:solidFill>
                <a:latin typeface="Calibri"/>
              </a:rPr>
              <a:t>RTL design and simulation</a:t>
            </a:r>
          </a:p>
          <a:p>
            <a:pPr algn="ctr">
              <a:lnSpc>
                <a:spcPct val="110000"/>
              </a:lnSpc>
              <a:buNone/>
            </a:pPr>
            <a:r>
              <a:rPr lang="en-US" sz="2500" dirty="0">
                <a:solidFill>
                  <a:srgbClr val="333333"/>
                </a:solidFill>
                <a:latin typeface="Calibri"/>
              </a:rPr>
              <a:t>Author: Cao Xuan Binh 2510462</a:t>
            </a:r>
            <a:endParaRPr lang="en-US" sz="2500" dirty="0"/>
          </a:p>
        </p:txBody>
      </p:sp>
      <p:sp>
        <p:nvSpPr>
          <p:cNvPr id="13" name="Configuration"/>
          <p:cNvSpPr txBox="1"/>
          <p:nvPr/>
        </p:nvSpPr>
        <p:spPr>
          <a:xfrm>
            <a:off x="1775113" y="3429000"/>
            <a:ext cx="7810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2100" b="0" dirty="0">
                <a:solidFill>
                  <a:srgbClr val="555555"/>
                </a:solidFill>
                <a:latin typeface="Calibri"/>
              </a:rPr>
              <a:t>50 MHz system clock</a:t>
            </a:r>
            <a:endParaRPr lang="en-US" sz="2100" dirty="0"/>
          </a:p>
          <a:p>
            <a:pPr algn="ctr">
              <a:lnSpc>
                <a:spcPct val="110000"/>
              </a:lnSpc>
              <a:buNone/>
            </a:pPr>
            <a:r>
              <a:rPr lang="en-US" sz="2100" b="0" dirty="0">
                <a:solidFill>
                  <a:srgbClr val="555555"/>
                </a:solidFill>
                <a:latin typeface="Calibri"/>
              </a:rPr>
              <a:t>115200 baud, 8N1</a:t>
            </a:r>
            <a:endParaRPr lang="en-US" sz="2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955F70-BDC3-18D0-60E6-F62D67A231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6482" y="-50651"/>
            <a:ext cx="2314704" cy="11350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EF771B-0DFF-DF26-E611-E7FE31E2EC9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579" y="134297"/>
            <a:ext cx="1014555" cy="92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915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title"/>
          <p:cNvSpPr txBox="1"/>
          <p:nvPr/>
        </p:nvSpPr>
        <p:spPr>
          <a:xfrm>
            <a:off x="1775807" y="338138"/>
            <a:ext cx="8477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3200" dirty="0">
                <a:solidFill>
                  <a:srgbClr val="0033CC"/>
                </a:solidFill>
                <a:latin typeface="Calibri Light"/>
              </a:rPr>
              <a:t>What is UART 8N1?</a:t>
            </a:r>
            <a:endParaRPr lang="en-US" sz="3200" dirty="0"/>
          </a:p>
        </p:txBody>
      </p:sp>
      <p:sp>
        <p:nvSpPr>
          <p:cNvPr id="16" name="Slide number"/>
          <p:cNvSpPr txBox="1"/>
          <p:nvPr/>
        </p:nvSpPr>
        <p:spPr>
          <a:xfrm>
            <a:off x="5715000" y="633412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1100" b="0">
                <a:solidFill>
                  <a:srgbClr val="333333"/>
                </a:solidFill>
                <a:latin typeface="Calibri"/>
              </a:rPr>
              <a:t>2</a:t>
            </a:r>
            <a:endParaRPr lang="en-US" sz="11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99D8B8-714A-01F2-87E0-10055A32E1E8}"/>
              </a:ext>
            </a:extLst>
          </p:cNvPr>
          <p:cNvSpPr txBox="1"/>
          <p:nvPr/>
        </p:nvSpPr>
        <p:spPr>
          <a:xfrm>
            <a:off x="778280" y="932551"/>
            <a:ext cx="10011640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Aft>
                <a:spcPts val="600"/>
              </a:spcAft>
              <a:buNone/>
            </a:pP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-   UART stands for Universal Asynchronous Receiver/Transmitter. It sends and receives data one bit at a time without a shared clock signal between the two devices. The transmitter converts parallel data into serial bits, and the receiver combines the bits back into parallel data.</a:t>
            </a:r>
            <a:endParaRPr lang="en-US" b="0" dirty="0">
              <a:effectLst/>
            </a:endParaRPr>
          </a:p>
          <a:p>
            <a:pPr rtl="0">
              <a:spcAft>
                <a:spcPts val="600"/>
              </a:spcAft>
              <a:buNone/>
            </a:pP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-   8N1 describes the frame format: 8 data bits, no parity bit (N), and 1 stop bit. A frame also begins with 1 start bit, so each frame contains 10 bits in total.</a:t>
            </a:r>
            <a:endParaRPr lang="en-US" b="0" dirty="0">
              <a:effectLst/>
            </a:endParaRPr>
          </a:p>
          <a:p>
            <a:pPr rtl="0">
              <a:spcAft>
                <a:spcPts val="600"/>
              </a:spcAft>
              <a:buNone/>
            </a:pP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-   Frame order: Start (0), D0 to D7, Stop (1). D0 is transmitted first, and the line stays high when idle.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7" name="Slide title">
            <a:extLst>
              <a:ext uri="{FF2B5EF4-FFF2-40B4-BE49-F238E27FC236}">
                <a16:creationId xmlns:a16="http://schemas.microsoft.com/office/drawing/2014/main" id="{D4A350F6-FC97-076B-B9D4-0330905D1C4F}"/>
              </a:ext>
            </a:extLst>
          </p:cNvPr>
          <p:cNvSpPr txBox="1"/>
          <p:nvPr/>
        </p:nvSpPr>
        <p:spPr>
          <a:xfrm>
            <a:off x="1775807" y="2915983"/>
            <a:ext cx="8477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3200" b="0" dirty="0">
                <a:solidFill>
                  <a:srgbClr val="0033CC"/>
                </a:solidFill>
                <a:latin typeface="Calibri Light"/>
              </a:rPr>
              <a:t>UART frame format</a:t>
            </a:r>
            <a:endParaRPr lang="en-US" sz="3200" dirty="0"/>
          </a:p>
        </p:txBody>
      </p:sp>
      <p:sp>
        <p:nvSpPr>
          <p:cNvPr id="9" name="Point 1">
            <a:extLst>
              <a:ext uri="{FF2B5EF4-FFF2-40B4-BE49-F238E27FC236}">
                <a16:creationId xmlns:a16="http://schemas.microsoft.com/office/drawing/2014/main" id="{370BACB3-C272-926D-A4AC-E969668DF619}"/>
              </a:ext>
            </a:extLst>
          </p:cNvPr>
          <p:cNvSpPr txBox="1"/>
          <p:nvPr/>
        </p:nvSpPr>
        <p:spPr>
          <a:xfrm>
            <a:off x="778280" y="3487185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b="0" dirty="0">
                <a:solidFill>
                  <a:srgbClr val="202020"/>
                </a:solidFill>
                <a:latin typeface="Calibri"/>
              </a:rPr>
              <a:t>The line stays high when idle.</a:t>
            </a:r>
            <a:endParaRPr lang="en-US" dirty="0"/>
          </a:p>
        </p:txBody>
      </p:sp>
      <p:sp>
        <p:nvSpPr>
          <p:cNvPr id="18" name="Point 2">
            <a:extLst>
              <a:ext uri="{FF2B5EF4-FFF2-40B4-BE49-F238E27FC236}">
                <a16:creationId xmlns:a16="http://schemas.microsoft.com/office/drawing/2014/main" id="{D5AFC661-3753-D2DA-0F05-E4A6AB8D0B87}"/>
              </a:ext>
            </a:extLst>
          </p:cNvPr>
          <p:cNvSpPr txBox="1"/>
          <p:nvPr/>
        </p:nvSpPr>
        <p:spPr>
          <a:xfrm>
            <a:off x="778280" y="3865506"/>
            <a:ext cx="40005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b="0" dirty="0">
                <a:solidFill>
                  <a:srgbClr val="202020"/>
                </a:solidFill>
                <a:latin typeface="Calibri"/>
              </a:rPr>
              <a:t>One low start bit begins the frame.</a:t>
            </a:r>
            <a:endParaRPr lang="en-US" dirty="0"/>
          </a:p>
        </p:txBody>
      </p:sp>
      <p:sp>
        <p:nvSpPr>
          <p:cNvPr id="20" name="Point 3">
            <a:extLst>
              <a:ext uri="{FF2B5EF4-FFF2-40B4-BE49-F238E27FC236}">
                <a16:creationId xmlns:a16="http://schemas.microsoft.com/office/drawing/2014/main" id="{3F75BFFA-0952-91EB-B4F4-FEADB034F7E0}"/>
              </a:ext>
            </a:extLst>
          </p:cNvPr>
          <p:cNvSpPr txBox="1"/>
          <p:nvPr/>
        </p:nvSpPr>
        <p:spPr>
          <a:xfrm>
            <a:off x="5637416" y="3487185"/>
            <a:ext cx="40005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b="0" dirty="0">
                <a:solidFill>
                  <a:srgbClr val="202020"/>
                </a:solidFill>
                <a:latin typeface="Calibri"/>
              </a:rPr>
              <a:t>Eight data bits follow, with D0 first.</a:t>
            </a:r>
            <a:endParaRPr lang="en-US" dirty="0"/>
          </a:p>
        </p:txBody>
      </p:sp>
      <p:sp>
        <p:nvSpPr>
          <p:cNvPr id="22" name="Point 4">
            <a:extLst>
              <a:ext uri="{FF2B5EF4-FFF2-40B4-BE49-F238E27FC236}">
                <a16:creationId xmlns:a16="http://schemas.microsoft.com/office/drawing/2014/main" id="{47D530C6-1DBB-4D48-FA41-8DF2FEE3603B}"/>
              </a:ext>
            </a:extLst>
          </p:cNvPr>
          <p:cNvSpPr txBox="1"/>
          <p:nvPr/>
        </p:nvSpPr>
        <p:spPr>
          <a:xfrm>
            <a:off x="5637416" y="3892787"/>
            <a:ext cx="3830781" cy="48887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b="0" dirty="0">
                <a:solidFill>
                  <a:srgbClr val="202020"/>
                </a:solidFill>
                <a:latin typeface="Calibri"/>
              </a:rPr>
              <a:t>One high stop bit ends the frame.</a:t>
            </a:r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0D9F35C-61E4-A44E-FBE8-172FF5B59C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280" y="4286586"/>
            <a:ext cx="8766810" cy="241971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D686020-E0A6-02C5-CB65-28169701010D}"/>
              </a:ext>
            </a:extLst>
          </p:cNvPr>
          <p:cNvSpPr/>
          <p:nvPr/>
        </p:nvSpPr>
        <p:spPr>
          <a:xfrm>
            <a:off x="778280" y="4230135"/>
            <a:ext cx="8859636" cy="255305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915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title"/>
          <p:cNvSpPr txBox="1"/>
          <p:nvPr/>
        </p:nvSpPr>
        <p:spPr>
          <a:xfrm>
            <a:off x="1168978" y="285750"/>
            <a:ext cx="8477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3200" b="0" dirty="0">
                <a:solidFill>
                  <a:srgbClr val="0033CC"/>
                </a:solidFill>
                <a:latin typeface="Calibri Light"/>
              </a:rPr>
              <a:t>Controller structure</a:t>
            </a:r>
            <a:endParaRPr lang="en-US" sz="3200" dirty="0"/>
          </a:p>
        </p:txBody>
      </p:sp>
      <p:sp>
        <p:nvSpPr>
          <p:cNvPr id="15" name="Slide number"/>
          <p:cNvSpPr txBox="1"/>
          <p:nvPr/>
        </p:nvSpPr>
        <p:spPr>
          <a:xfrm>
            <a:off x="5715000" y="633412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1100" b="0">
                <a:solidFill>
                  <a:srgbClr val="333333"/>
                </a:solidFill>
                <a:latin typeface="Calibri"/>
              </a:rPr>
              <a:t>3</a:t>
            </a:r>
            <a:endParaRPr lang="en-US" sz="11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445189-37B5-EC47-91D8-61E64BCA59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238" y="1162684"/>
            <a:ext cx="6491018" cy="42533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D67A5A-A573-A102-FB76-DC56D430A5A8}"/>
              </a:ext>
            </a:extLst>
          </p:cNvPr>
          <p:cNvSpPr txBox="1"/>
          <p:nvPr/>
        </p:nvSpPr>
        <p:spPr>
          <a:xfrm>
            <a:off x="446564" y="1686915"/>
            <a:ext cx="4391443" cy="4222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 err="1"/>
              <a:t>uart_top</a:t>
            </a:r>
            <a:r>
              <a:rPr lang="en-US" sz="2200" dirty="0"/>
              <a:t> integrates a baud-rate generator, UART TX, UART RX, and two synchronous FIFOs.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rgbClr val="202020"/>
                </a:solidFill>
              </a:rPr>
              <a:t>baud_rate_generator</a:t>
            </a:r>
            <a:r>
              <a:rPr lang="en-US" sz="2200" dirty="0">
                <a:solidFill>
                  <a:srgbClr val="202020"/>
                </a:solidFill>
              </a:rPr>
              <a:t> provides timing ticks.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 err="1"/>
              <a:t>tx_fifo</a:t>
            </a:r>
            <a:r>
              <a:rPr lang="en-US" sz="2200" dirty="0"/>
              <a:t> and </a:t>
            </a:r>
            <a:r>
              <a:rPr lang="en-US" sz="2200" dirty="0" err="1"/>
              <a:t>rx_fifo</a:t>
            </a:r>
            <a:r>
              <a:rPr lang="en-US" sz="2200" dirty="0"/>
              <a:t> queue data on each side.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rgbClr val="202020"/>
                </a:solidFill>
              </a:rPr>
              <a:t>uart_tx</a:t>
            </a:r>
            <a:r>
              <a:rPr lang="en-US" sz="2200" dirty="0">
                <a:solidFill>
                  <a:srgbClr val="202020"/>
                </a:solidFill>
              </a:rPr>
              <a:t>(transmitter) sends data.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rgbClr val="202020"/>
                </a:solidFill>
              </a:rPr>
              <a:t>uart_rx</a:t>
            </a:r>
            <a:r>
              <a:rPr lang="en-US" sz="2200" dirty="0">
                <a:solidFill>
                  <a:srgbClr val="202020"/>
                </a:solidFill>
              </a:rPr>
              <a:t>(receiver) receives data.</a:t>
            </a:r>
            <a:endParaRPr lang="en-US" sz="2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131915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title"/>
          <p:cNvSpPr txBox="1"/>
          <p:nvPr/>
        </p:nvSpPr>
        <p:spPr>
          <a:xfrm>
            <a:off x="463473" y="252413"/>
            <a:ext cx="8477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3200" b="0" dirty="0">
                <a:solidFill>
                  <a:srgbClr val="0033CC"/>
                </a:solidFill>
                <a:latin typeface="Calibri Light"/>
              </a:rPr>
              <a:t>Baud-rate generator</a:t>
            </a:r>
            <a:endParaRPr lang="en-US" sz="3200" dirty="0"/>
          </a:p>
        </p:txBody>
      </p:sp>
      <p:sp>
        <p:nvSpPr>
          <p:cNvPr id="11" name="Point 1"/>
          <p:cNvSpPr txBox="1"/>
          <p:nvPr/>
        </p:nvSpPr>
        <p:spPr>
          <a:xfrm>
            <a:off x="463473" y="847663"/>
            <a:ext cx="8286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alibri"/>
              </a:rPr>
              <a:t>-   </a:t>
            </a:r>
            <a:r>
              <a:rPr lang="en-US" b="0" dirty="0">
                <a:solidFill>
                  <a:srgbClr val="202020"/>
                </a:solidFill>
                <a:latin typeface="Calibri"/>
              </a:rPr>
              <a:t>Clock frequency: 50 MHz</a:t>
            </a:r>
            <a:endParaRPr lang="en-US" dirty="0"/>
          </a:p>
        </p:txBody>
      </p:sp>
      <p:sp>
        <p:nvSpPr>
          <p:cNvPr id="12" name="Point 2"/>
          <p:cNvSpPr txBox="1"/>
          <p:nvPr/>
        </p:nvSpPr>
        <p:spPr>
          <a:xfrm>
            <a:off x="463472" y="1285020"/>
            <a:ext cx="10251633" cy="119779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dirty="0">
                <a:solidFill>
                  <a:srgbClr val="202020"/>
                </a:solidFill>
                <a:latin typeface="Calibri"/>
              </a:rPr>
              <a:t>-   </a:t>
            </a:r>
            <a:r>
              <a:rPr lang="en-US" b="0" dirty="0">
                <a:solidFill>
                  <a:srgbClr val="202020"/>
                </a:solidFill>
                <a:latin typeface="Calibri"/>
              </a:rPr>
              <a:t>Target baud rate: </a:t>
            </a:r>
            <a:r>
              <a:rPr lang="en-US" dirty="0"/>
              <a:t>Baud rate is the number of symbols transmitted or received per second.</a:t>
            </a:r>
            <a:r>
              <a:rPr lang="en-US" dirty="0">
                <a:solidFill>
                  <a:srgbClr val="202020"/>
                </a:solidFill>
                <a:latin typeface="Calibri"/>
              </a:rPr>
              <a:t> </a:t>
            </a:r>
            <a:r>
              <a:rPr lang="en-US" dirty="0"/>
              <a:t>This UART uses one bit per symbol. The target baud rate is 115200 baud, which corresponds to 115200 bits/s on the serial line.</a:t>
            </a:r>
          </a:p>
        </p:txBody>
      </p:sp>
      <p:sp>
        <p:nvSpPr>
          <p:cNvPr id="13" name="Point 3"/>
          <p:cNvSpPr txBox="1"/>
          <p:nvPr/>
        </p:nvSpPr>
        <p:spPr>
          <a:xfrm>
            <a:off x="457315" y="2250175"/>
            <a:ext cx="10980997" cy="12419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dirty="0"/>
              <a:t>-   Oversampling divides each bit period into smaller timing steps so that the receiver can sample near the middle of a bit and the transmitter can change bits exactly at bit boundaries.</a:t>
            </a:r>
            <a:endParaRPr lang="en-US" b="0" dirty="0">
              <a:solidFill>
                <a:srgbClr val="202020"/>
              </a:solidFill>
              <a:latin typeface="Calibri"/>
            </a:endParaRPr>
          </a:p>
          <a:p>
            <a:r>
              <a:rPr lang="en-US" dirty="0"/>
              <a:t>This project uses OVERSAMPLE = 16, so each bit period contains 16 timing ticks. The receiver uses these ticks to choose when to sample.</a:t>
            </a:r>
          </a:p>
        </p:txBody>
      </p:sp>
      <p:sp>
        <p:nvSpPr>
          <p:cNvPr id="14" name="Point 4"/>
          <p:cNvSpPr txBox="1"/>
          <p:nvPr/>
        </p:nvSpPr>
        <p:spPr>
          <a:xfrm>
            <a:off x="463473" y="3813823"/>
            <a:ext cx="8286750" cy="8051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b="0" dirty="0">
                <a:solidFill>
                  <a:srgbClr val="202020"/>
                </a:solidFill>
                <a:latin typeface="Calibri"/>
              </a:rPr>
              <a:t>Divisor = </a:t>
            </a:r>
            <a:r>
              <a:rPr lang="en-US" b="0" dirty="0" err="1">
                <a:solidFill>
                  <a:srgbClr val="202020"/>
                </a:solidFill>
                <a:latin typeface="Calibri"/>
              </a:rPr>
              <a:t>CLK_Freq</a:t>
            </a:r>
            <a:r>
              <a:rPr lang="en-US" b="0" dirty="0">
                <a:solidFill>
                  <a:srgbClr val="202020"/>
                </a:solidFill>
                <a:latin typeface="Calibri"/>
              </a:rPr>
              <a:t>/(</a:t>
            </a:r>
            <a:r>
              <a:rPr lang="en-US" b="0" dirty="0" err="1">
                <a:solidFill>
                  <a:srgbClr val="202020"/>
                </a:solidFill>
                <a:latin typeface="Calibri"/>
              </a:rPr>
              <a:t>Baud_rate</a:t>
            </a:r>
            <a:r>
              <a:rPr lang="en-US" b="0" dirty="0">
                <a:solidFill>
                  <a:srgbClr val="202020"/>
                </a:solidFill>
                <a:latin typeface="Calibri"/>
              </a:rPr>
              <a:t>*oversample) = 50 000 000 / (115200 × 16) ≈ 27.13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202020"/>
                </a:solidFill>
              </a:rPr>
              <a:t>The project uses DIVISOR = 27.</a:t>
            </a:r>
            <a:endParaRPr lang="en-US" dirty="0"/>
          </a:p>
          <a:p>
            <a:pPr algn="l">
              <a:lnSpc>
                <a:spcPct val="110000"/>
              </a:lnSpc>
              <a:buNone/>
            </a:pPr>
            <a:endParaRPr lang="en-US" dirty="0"/>
          </a:p>
        </p:txBody>
      </p:sp>
      <p:sp>
        <p:nvSpPr>
          <p:cNvPr id="15" name="Point 5"/>
          <p:cNvSpPr txBox="1"/>
          <p:nvPr/>
        </p:nvSpPr>
        <p:spPr>
          <a:xfrm>
            <a:off x="457315" y="3558770"/>
            <a:ext cx="8567227" cy="25505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dirty="0"/>
              <a:t> -   The divisor sets how many system clock cycles pass between timing ticks.</a:t>
            </a:r>
          </a:p>
          <a:p>
            <a:endParaRPr lang="en-US" b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7" name="Slide number"/>
          <p:cNvSpPr txBox="1"/>
          <p:nvPr/>
        </p:nvSpPr>
        <p:spPr>
          <a:xfrm>
            <a:off x="5715000" y="633412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1100" b="0">
                <a:solidFill>
                  <a:srgbClr val="333333"/>
                </a:solidFill>
                <a:latin typeface="Calibri"/>
              </a:rPr>
              <a:t>4</a:t>
            </a:r>
            <a:endParaRPr lang="en-US" sz="11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91F235-E515-9CD8-912C-E1E8367D9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315" y="4714470"/>
            <a:ext cx="11403220" cy="119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915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title"/>
          <p:cNvSpPr txBox="1"/>
          <p:nvPr/>
        </p:nvSpPr>
        <p:spPr>
          <a:xfrm>
            <a:off x="2000250" y="781050"/>
            <a:ext cx="8477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3200" b="0">
                <a:solidFill>
                  <a:srgbClr val="0033CC"/>
                </a:solidFill>
                <a:latin typeface="Calibri Light"/>
              </a:rPr>
              <a:t>Bit timing</a:t>
            </a:r>
            <a:endParaRPr lang="en-US" sz="3200"/>
          </a:p>
        </p:txBody>
      </p:sp>
      <p:sp>
        <p:nvSpPr>
          <p:cNvPr id="11" name="Point 1"/>
          <p:cNvSpPr txBox="1"/>
          <p:nvPr/>
        </p:nvSpPr>
        <p:spPr>
          <a:xfrm>
            <a:off x="2286000" y="1695450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2200" b="0">
                <a:solidFill>
                  <a:srgbClr val="202020"/>
                </a:solidFill>
                <a:latin typeface="Calibri"/>
              </a:rPr>
              <a:t>One tick every 27 clock cycles</a:t>
            </a:r>
            <a:endParaRPr lang="en-US" sz="2200"/>
          </a:p>
        </p:txBody>
      </p:sp>
      <p:sp>
        <p:nvSpPr>
          <p:cNvPr id="12" name="Point 2"/>
          <p:cNvSpPr txBox="1"/>
          <p:nvPr/>
        </p:nvSpPr>
        <p:spPr>
          <a:xfrm>
            <a:off x="2286000" y="2209800"/>
            <a:ext cx="40005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2200" b="0">
                <a:solidFill>
                  <a:srgbClr val="202020"/>
                </a:solidFill>
                <a:latin typeface="Calibri"/>
              </a:rPr>
              <a:t>One bit = 16 ticks = 432 clock cycles</a:t>
            </a:r>
            <a:endParaRPr lang="en-US" sz="2200"/>
          </a:p>
        </p:txBody>
      </p:sp>
      <p:sp>
        <p:nvSpPr>
          <p:cNvPr id="13" name="Point 3"/>
          <p:cNvSpPr txBox="1"/>
          <p:nvPr/>
        </p:nvSpPr>
        <p:spPr>
          <a:xfrm>
            <a:off x="2286000" y="3038475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2200" b="0">
                <a:solidFill>
                  <a:srgbClr val="202020"/>
                </a:solidFill>
                <a:latin typeface="Calibri"/>
              </a:rPr>
              <a:t>Bit period = 8.64 µs</a:t>
            </a:r>
            <a:endParaRPr lang="en-US" sz="2200"/>
          </a:p>
        </p:txBody>
      </p:sp>
      <p:sp>
        <p:nvSpPr>
          <p:cNvPr id="14" name="Point 4"/>
          <p:cNvSpPr txBox="1"/>
          <p:nvPr/>
        </p:nvSpPr>
        <p:spPr>
          <a:xfrm>
            <a:off x="2286000" y="3552825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2200" b="0">
                <a:solidFill>
                  <a:srgbClr val="202020"/>
                </a:solidFill>
                <a:latin typeface="Calibri"/>
              </a:rPr>
              <a:t>Actual baud rate ≈ 115741 baud</a:t>
            </a:r>
            <a:endParaRPr lang="en-US" sz="2200"/>
          </a:p>
        </p:txBody>
      </p:sp>
      <p:sp>
        <p:nvSpPr>
          <p:cNvPr id="15" name="Point 5"/>
          <p:cNvSpPr txBox="1"/>
          <p:nvPr/>
        </p:nvSpPr>
        <p:spPr>
          <a:xfrm>
            <a:off x="2286000" y="4067175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2200" b="0">
                <a:solidFill>
                  <a:srgbClr val="202020"/>
                </a:solidFill>
                <a:latin typeface="Calibri"/>
              </a:rPr>
              <a:t>Baud-rate error ≈ +0.47%</a:t>
            </a:r>
            <a:endParaRPr lang="en-US" sz="2200"/>
          </a:p>
        </p:txBody>
      </p:sp>
      <p:sp>
        <p:nvSpPr>
          <p:cNvPr id="17" name="Slide number"/>
          <p:cNvSpPr txBox="1"/>
          <p:nvPr/>
        </p:nvSpPr>
        <p:spPr>
          <a:xfrm>
            <a:off x="5715000" y="633412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1100" b="0">
                <a:solidFill>
                  <a:srgbClr val="333333"/>
                </a:solidFill>
                <a:latin typeface="Calibri"/>
              </a:rPr>
              <a:t>5</a:t>
            </a:r>
            <a:endParaRPr lang="en-US" sz="11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E3FE15-5C22-8683-8E5C-6038FD62F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791075"/>
            <a:ext cx="11607800" cy="121664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C3CF7A3-06B5-8363-E9DE-A617E7E2FB84}"/>
              </a:ext>
            </a:extLst>
          </p:cNvPr>
          <p:cNvSpPr/>
          <p:nvPr/>
        </p:nvSpPr>
        <p:spPr>
          <a:xfrm>
            <a:off x="1870364" y="1447800"/>
            <a:ext cx="4606636" cy="3174076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915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title"/>
          <p:cNvSpPr txBox="1"/>
          <p:nvPr/>
        </p:nvSpPr>
        <p:spPr>
          <a:xfrm>
            <a:off x="537210" y="285750"/>
            <a:ext cx="8477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3200" b="0" dirty="0">
                <a:solidFill>
                  <a:srgbClr val="0033CC"/>
                </a:solidFill>
                <a:latin typeface="Calibri Light"/>
              </a:rPr>
              <a:t>TX(TRANSMITTER) state machine</a:t>
            </a:r>
            <a:endParaRPr lang="en-US" sz="3200" dirty="0"/>
          </a:p>
        </p:txBody>
      </p:sp>
      <p:sp>
        <p:nvSpPr>
          <p:cNvPr id="11" name="Point 1"/>
          <p:cNvSpPr txBox="1"/>
          <p:nvPr/>
        </p:nvSpPr>
        <p:spPr>
          <a:xfrm>
            <a:off x="537210" y="1038225"/>
            <a:ext cx="40005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2200" b="0" dirty="0">
                <a:solidFill>
                  <a:srgbClr val="202020"/>
                </a:solidFill>
                <a:latin typeface="Calibri"/>
              </a:rPr>
              <a:t>IDLE: keep </a:t>
            </a:r>
            <a:r>
              <a:rPr lang="en-US" sz="2200" b="0" dirty="0" err="1">
                <a:solidFill>
                  <a:srgbClr val="202020"/>
                </a:solidFill>
                <a:latin typeface="Calibri"/>
              </a:rPr>
              <a:t>tx</a:t>
            </a:r>
            <a:r>
              <a:rPr lang="en-US" sz="2200" b="0" dirty="0">
                <a:solidFill>
                  <a:srgbClr val="202020"/>
                </a:solidFill>
                <a:latin typeface="Calibri"/>
              </a:rPr>
              <a:t> high and wait for data.</a:t>
            </a:r>
            <a:endParaRPr lang="en-US" sz="2200" dirty="0"/>
          </a:p>
        </p:txBody>
      </p:sp>
      <p:sp>
        <p:nvSpPr>
          <p:cNvPr id="12" name="Point 2"/>
          <p:cNvSpPr txBox="1"/>
          <p:nvPr/>
        </p:nvSpPr>
        <p:spPr>
          <a:xfrm>
            <a:off x="537210" y="1981199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2200" b="0" dirty="0">
                <a:solidFill>
                  <a:srgbClr val="202020"/>
                </a:solidFill>
                <a:latin typeface="Calibri"/>
              </a:rPr>
              <a:t>START: drive </a:t>
            </a:r>
            <a:r>
              <a:rPr lang="en-US" sz="2200" b="0" dirty="0" err="1">
                <a:solidFill>
                  <a:srgbClr val="202020"/>
                </a:solidFill>
                <a:latin typeface="Calibri"/>
              </a:rPr>
              <a:t>tx</a:t>
            </a:r>
            <a:r>
              <a:rPr lang="en-US" sz="2200" b="0" dirty="0">
                <a:solidFill>
                  <a:srgbClr val="202020"/>
                </a:solidFill>
                <a:latin typeface="Calibri"/>
              </a:rPr>
              <a:t> low for one bit.</a:t>
            </a:r>
            <a:endParaRPr lang="en-US" sz="2200" dirty="0"/>
          </a:p>
        </p:txBody>
      </p:sp>
      <p:sp>
        <p:nvSpPr>
          <p:cNvPr id="13" name="Point 3"/>
          <p:cNvSpPr txBox="1"/>
          <p:nvPr/>
        </p:nvSpPr>
        <p:spPr>
          <a:xfrm>
            <a:off x="533054" y="2452688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2200" b="0" dirty="0">
                <a:solidFill>
                  <a:srgbClr val="202020"/>
                </a:solidFill>
                <a:latin typeface="Calibri"/>
              </a:rPr>
              <a:t>DATA: send D0 through D7.</a:t>
            </a:r>
            <a:endParaRPr lang="en-US" sz="2200" dirty="0"/>
          </a:p>
        </p:txBody>
      </p:sp>
      <p:sp>
        <p:nvSpPr>
          <p:cNvPr id="14" name="Point 4"/>
          <p:cNvSpPr txBox="1"/>
          <p:nvPr/>
        </p:nvSpPr>
        <p:spPr>
          <a:xfrm>
            <a:off x="533054" y="3000375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2200" b="0">
                <a:solidFill>
                  <a:srgbClr val="202020"/>
                </a:solidFill>
                <a:latin typeface="Calibri"/>
              </a:rPr>
              <a:t>STOP: drive tx high for one bit.</a:t>
            </a:r>
            <a:endParaRPr lang="en-US" sz="2200"/>
          </a:p>
        </p:txBody>
      </p:sp>
      <p:sp>
        <p:nvSpPr>
          <p:cNvPr id="16" name="Slide number"/>
          <p:cNvSpPr txBox="1"/>
          <p:nvPr/>
        </p:nvSpPr>
        <p:spPr>
          <a:xfrm>
            <a:off x="5715000" y="633412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1100" b="0">
                <a:solidFill>
                  <a:srgbClr val="333333"/>
                </a:solidFill>
                <a:latin typeface="Calibri"/>
              </a:rPr>
              <a:t>7</a:t>
            </a:r>
            <a:endParaRPr lang="en-US" sz="11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173F3C-4F52-F05C-9A3C-81D8EFCF3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3112" y="883918"/>
            <a:ext cx="7425692" cy="5569269"/>
          </a:xfrm>
          <a:prstGeom prst="rect">
            <a:avLst/>
          </a:prstGeom>
        </p:spPr>
      </p:pic>
      <p:sp>
        <p:nvSpPr>
          <p:cNvPr id="4" name="Point 1">
            <a:extLst>
              <a:ext uri="{FF2B5EF4-FFF2-40B4-BE49-F238E27FC236}">
                <a16:creationId xmlns:a16="http://schemas.microsoft.com/office/drawing/2014/main" id="{56560CDF-AC0C-F4B8-59E9-09A96981942B}"/>
              </a:ext>
            </a:extLst>
          </p:cNvPr>
          <p:cNvSpPr txBox="1"/>
          <p:nvPr/>
        </p:nvSpPr>
        <p:spPr>
          <a:xfrm>
            <a:off x="495820" y="4172643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2200" b="0" dirty="0" err="1">
                <a:solidFill>
                  <a:srgbClr val="202020"/>
                </a:solidFill>
                <a:latin typeface="Calibri"/>
              </a:rPr>
              <a:t>data_in</a:t>
            </a:r>
            <a:r>
              <a:rPr lang="en-US" sz="2200" b="0" dirty="0">
                <a:solidFill>
                  <a:srgbClr val="202020"/>
                </a:solidFill>
                <a:latin typeface="Calibri"/>
              </a:rPr>
              <a:t>[7:0]: byte to send</a:t>
            </a:r>
            <a:endParaRPr lang="en-US" sz="2200" dirty="0"/>
          </a:p>
        </p:txBody>
      </p:sp>
      <p:sp>
        <p:nvSpPr>
          <p:cNvPr id="6" name="Point 2">
            <a:extLst>
              <a:ext uri="{FF2B5EF4-FFF2-40B4-BE49-F238E27FC236}">
                <a16:creationId xmlns:a16="http://schemas.microsoft.com/office/drawing/2014/main" id="{06DC7EE0-3BD3-678E-1902-446DE064B9E3}"/>
              </a:ext>
            </a:extLst>
          </p:cNvPr>
          <p:cNvSpPr txBox="1"/>
          <p:nvPr/>
        </p:nvSpPr>
        <p:spPr>
          <a:xfrm>
            <a:off x="495820" y="4686993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2200" b="0">
                <a:solidFill>
                  <a:srgbClr val="202020"/>
                </a:solidFill>
                <a:latin typeface="Calibri"/>
              </a:rPr>
              <a:t>tx_valid: transmission request</a:t>
            </a:r>
            <a:endParaRPr lang="en-US" sz="2200"/>
          </a:p>
        </p:txBody>
      </p:sp>
      <p:sp>
        <p:nvSpPr>
          <p:cNvPr id="8" name="Point 3">
            <a:extLst>
              <a:ext uri="{FF2B5EF4-FFF2-40B4-BE49-F238E27FC236}">
                <a16:creationId xmlns:a16="http://schemas.microsoft.com/office/drawing/2014/main" id="{F379AEF3-609E-2E2A-BBEB-EA997544B207}"/>
              </a:ext>
            </a:extLst>
          </p:cNvPr>
          <p:cNvSpPr txBox="1"/>
          <p:nvPr/>
        </p:nvSpPr>
        <p:spPr>
          <a:xfrm>
            <a:off x="495820" y="5201343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2200" b="0" dirty="0" err="1">
                <a:solidFill>
                  <a:srgbClr val="202020"/>
                </a:solidFill>
                <a:latin typeface="Calibri"/>
              </a:rPr>
              <a:t>tx_ready</a:t>
            </a:r>
            <a:r>
              <a:rPr lang="en-US" sz="2200" b="0" dirty="0">
                <a:solidFill>
                  <a:srgbClr val="202020"/>
                </a:solidFill>
                <a:latin typeface="Calibri"/>
              </a:rPr>
              <a:t>: ready for new data</a:t>
            </a:r>
            <a:endParaRPr lang="en-US" sz="2200" dirty="0"/>
          </a:p>
        </p:txBody>
      </p:sp>
      <p:sp>
        <p:nvSpPr>
          <p:cNvPr id="17" name="Point 4">
            <a:extLst>
              <a:ext uri="{FF2B5EF4-FFF2-40B4-BE49-F238E27FC236}">
                <a16:creationId xmlns:a16="http://schemas.microsoft.com/office/drawing/2014/main" id="{3F4E2FEB-7E6A-E71B-150D-85B4BF8AF2ED}"/>
              </a:ext>
            </a:extLst>
          </p:cNvPr>
          <p:cNvSpPr txBox="1"/>
          <p:nvPr/>
        </p:nvSpPr>
        <p:spPr>
          <a:xfrm>
            <a:off x="495820" y="5715693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2200" b="0">
                <a:solidFill>
                  <a:srgbClr val="202020"/>
                </a:solidFill>
                <a:latin typeface="Calibri"/>
              </a:rPr>
              <a:t>tx_busy: frame in progress</a:t>
            </a:r>
            <a:endParaRPr lang="en-US" sz="2200"/>
          </a:p>
        </p:txBody>
      </p:sp>
      <p:sp>
        <p:nvSpPr>
          <p:cNvPr id="19" name="Point 5">
            <a:extLst>
              <a:ext uri="{FF2B5EF4-FFF2-40B4-BE49-F238E27FC236}">
                <a16:creationId xmlns:a16="http://schemas.microsoft.com/office/drawing/2014/main" id="{2A2E88D6-41DA-7C9C-39CD-A96F99A1A686}"/>
              </a:ext>
            </a:extLst>
          </p:cNvPr>
          <p:cNvSpPr txBox="1"/>
          <p:nvPr/>
        </p:nvSpPr>
        <p:spPr>
          <a:xfrm>
            <a:off x="495820" y="6230043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2200" b="0">
                <a:solidFill>
                  <a:srgbClr val="202020"/>
                </a:solidFill>
                <a:latin typeface="Calibri"/>
              </a:rPr>
              <a:t>tx: serial output</a:t>
            </a:r>
            <a:endParaRPr lang="en-US" sz="2200"/>
          </a:p>
        </p:txBody>
      </p:sp>
      <p:sp>
        <p:nvSpPr>
          <p:cNvPr id="21" name="Slide title">
            <a:extLst>
              <a:ext uri="{FF2B5EF4-FFF2-40B4-BE49-F238E27FC236}">
                <a16:creationId xmlns:a16="http://schemas.microsoft.com/office/drawing/2014/main" id="{4D15A5A2-D2D6-6305-98FB-77FF73F45B6F}"/>
              </a:ext>
            </a:extLst>
          </p:cNvPr>
          <p:cNvSpPr txBox="1"/>
          <p:nvPr/>
        </p:nvSpPr>
        <p:spPr>
          <a:xfrm>
            <a:off x="478415" y="3521653"/>
            <a:ext cx="8477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3200" b="0" dirty="0">
                <a:solidFill>
                  <a:srgbClr val="0033CC"/>
                </a:solidFill>
                <a:latin typeface="Calibri Light"/>
              </a:rPr>
              <a:t>TX interface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F1C5F6-F077-A913-F7A8-8A0CBC56EC89}"/>
              </a:ext>
            </a:extLst>
          </p:cNvPr>
          <p:cNvSpPr/>
          <p:nvPr/>
        </p:nvSpPr>
        <p:spPr>
          <a:xfrm>
            <a:off x="4305993" y="952500"/>
            <a:ext cx="7140632" cy="5473238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915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title"/>
          <p:cNvSpPr txBox="1"/>
          <p:nvPr/>
        </p:nvSpPr>
        <p:spPr>
          <a:xfrm>
            <a:off x="986097" y="285750"/>
            <a:ext cx="8477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3200" b="0">
                <a:solidFill>
                  <a:srgbClr val="0033CC"/>
                </a:solidFill>
                <a:latin typeface="Calibri Light"/>
              </a:rPr>
              <a:t>TX waveform</a:t>
            </a:r>
            <a:endParaRPr lang="en-US" sz="3200"/>
          </a:p>
        </p:txBody>
      </p:sp>
      <p:sp>
        <p:nvSpPr>
          <p:cNvPr id="11" name="Point 1"/>
          <p:cNvSpPr txBox="1"/>
          <p:nvPr/>
        </p:nvSpPr>
        <p:spPr>
          <a:xfrm>
            <a:off x="1081347" y="1033463"/>
            <a:ext cx="8286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2200" b="0" dirty="0">
                <a:solidFill>
                  <a:srgbClr val="202020"/>
                </a:solidFill>
                <a:latin typeface="Calibri"/>
              </a:rPr>
              <a:t>-   Each bit lasts 16 timing ticks.</a:t>
            </a:r>
            <a:endParaRPr lang="en-US" sz="2200" dirty="0"/>
          </a:p>
        </p:txBody>
      </p:sp>
      <p:sp>
        <p:nvSpPr>
          <p:cNvPr id="12" name="Point 2"/>
          <p:cNvSpPr txBox="1"/>
          <p:nvPr/>
        </p:nvSpPr>
        <p:spPr>
          <a:xfrm>
            <a:off x="1081347" y="1462088"/>
            <a:ext cx="8286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2200" b="0" dirty="0">
                <a:solidFill>
                  <a:srgbClr val="202020"/>
                </a:solidFill>
                <a:latin typeface="Calibri"/>
              </a:rPr>
              <a:t>-   At counter value 15, TX finishes the current bit.</a:t>
            </a:r>
            <a:endParaRPr lang="en-US" sz="2200" dirty="0"/>
          </a:p>
        </p:txBody>
      </p:sp>
      <p:sp>
        <p:nvSpPr>
          <p:cNvPr id="13" name="Point 3"/>
          <p:cNvSpPr txBox="1"/>
          <p:nvPr/>
        </p:nvSpPr>
        <p:spPr>
          <a:xfrm>
            <a:off x="1081347" y="1921669"/>
            <a:ext cx="8286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2200" b="0" dirty="0">
                <a:solidFill>
                  <a:srgbClr val="202020"/>
                </a:solidFill>
                <a:latin typeface="Calibri"/>
              </a:rPr>
              <a:t>-   TX then sends the next bit or changes state.</a:t>
            </a:r>
            <a:endParaRPr lang="en-US" sz="2200" dirty="0"/>
          </a:p>
        </p:txBody>
      </p:sp>
      <p:sp>
        <p:nvSpPr>
          <p:cNvPr id="15" name="Slide number"/>
          <p:cNvSpPr txBox="1"/>
          <p:nvPr/>
        </p:nvSpPr>
        <p:spPr>
          <a:xfrm>
            <a:off x="5715000" y="633412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1100" b="0">
                <a:solidFill>
                  <a:srgbClr val="333333"/>
                </a:solidFill>
                <a:latin typeface="Calibri"/>
              </a:rPr>
              <a:t>8</a:t>
            </a:r>
            <a:endParaRPr lang="en-US" sz="11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E1886-4012-F49A-662B-F8520F8FD1E3}"/>
              </a:ext>
            </a:extLst>
          </p:cNvPr>
          <p:cNvSpPr txBox="1"/>
          <p:nvPr/>
        </p:nvSpPr>
        <p:spPr>
          <a:xfrm>
            <a:off x="1081345" y="4947374"/>
            <a:ext cx="10722728" cy="120032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Example: </a:t>
            </a:r>
            <a:r>
              <a:rPr lang="en-US" dirty="0" err="1"/>
              <a:t>data_in</a:t>
            </a:r>
            <a:r>
              <a:rPr lang="en-US" dirty="0"/>
              <a:t> = 13 (decimal) = 00001101 (binary).</a:t>
            </a:r>
            <a:br>
              <a:rPr lang="en-US" dirty="0"/>
            </a:br>
            <a:r>
              <a:rPr lang="en-US" dirty="0"/>
              <a:t>From the IDLE state (state 0) to the end of the STOP state (state 3), </a:t>
            </a:r>
            <a:r>
              <a:rPr lang="en-US" dirty="0" err="1"/>
              <a:t>tx</a:t>
            </a:r>
            <a:r>
              <a:rPr lang="en-US" dirty="0"/>
              <a:t> sends 0101100001 (leftmost bit first).</a:t>
            </a:r>
            <a:br>
              <a:rPr lang="en-US" dirty="0"/>
            </a:br>
            <a:r>
              <a:rPr lang="en-US" dirty="0"/>
              <a:t>The first bit, 0, is the start bit. The last bit, 1, is the stop bit.</a:t>
            </a:r>
            <a:br>
              <a:rPr lang="en-US" dirty="0"/>
            </a:br>
            <a:r>
              <a:rPr lang="en-US" dirty="0"/>
              <a:t>The 8 bits in between are the data, sent D0 first: 10110000. Read in reverse (D7 to D0), they give 00001101 = 13.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815687-A39E-75A4-58A8-9863292B8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346" y="2281469"/>
            <a:ext cx="9880369" cy="253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915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title"/>
          <p:cNvSpPr txBox="1"/>
          <p:nvPr/>
        </p:nvSpPr>
        <p:spPr>
          <a:xfrm>
            <a:off x="1476375" y="390352"/>
            <a:ext cx="8477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3200" b="0" dirty="0">
                <a:solidFill>
                  <a:srgbClr val="0033CC"/>
                </a:solidFill>
                <a:latin typeface="Calibri Light"/>
              </a:rPr>
              <a:t>RX(RECEIVER) input synchronization</a:t>
            </a:r>
            <a:endParaRPr lang="en-US" sz="3200" dirty="0"/>
          </a:p>
        </p:txBody>
      </p:sp>
      <p:sp>
        <p:nvSpPr>
          <p:cNvPr id="16" name="Slide number"/>
          <p:cNvSpPr txBox="1"/>
          <p:nvPr/>
        </p:nvSpPr>
        <p:spPr>
          <a:xfrm>
            <a:off x="5715000" y="633412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1100" b="0">
                <a:solidFill>
                  <a:srgbClr val="333333"/>
                </a:solidFill>
                <a:latin typeface="Calibri"/>
              </a:rPr>
              <a:t>9</a:t>
            </a:r>
            <a:endParaRPr lang="en-US" sz="11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D1B121-38CC-647F-DB2B-1B786020832E}"/>
              </a:ext>
            </a:extLst>
          </p:cNvPr>
          <p:cNvSpPr txBox="1"/>
          <p:nvPr/>
        </p:nvSpPr>
        <p:spPr>
          <a:xfrm>
            <a:off x="287134" y="1057102"/>
            <a:ext cx="1105142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Aft>
                <a:spcPts val="600"/>
              </a:spcAft>
              <a:buNone/>
            </a:pPr>
            <a:r>
              <a:rPr lang="en-US" sz="2800" b="0" i="0" u="none" strike="noStrike" dirty="0">
                <a:solidFill>
                  <a:schemeClr val="tx1"/>
                </a:solidFill>
                <a:effectLst/>
                <a:latin typeface="+mn-lt"/>
              </a:rPr>
              <a:t>The </a:t>
            </a:r>
            <a:r>
              <a:rPr lang="en-US" sz="28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rx</a:t>
            </a:r>
            <a:r>
              <a:rPr lang="en-US" sz="2800" b="0" i="0" u="none" strike="noStrike" dirty="0">
                <a:solidFill>
                  <a:schemeClr val="tx1"/>
                </a:solidFill>
                <a:effectLst/>
                <a:latin typeface="+mn-lt"/>
              </a:rPr>
              <a:t> input does not share the system clock, so it may change close to a rising edge of clk. This can violate the first flip-flop's setup or hold time and cause metastability. The synchronizer passes </a:t>
            </a:r>
            <a:r>
              <a:rPr lang="en-US" sz="28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rx</a:t>
            </a:r>
            <a:r>
              <a:rPr lang="en-US" sz="2800" b="0" i="0" u="none" strike="noStrike" dirty="0">
                <a:solidFill>
                  <a:schemeClr val="tx1"/>
                </a:solidFill>
                <a:effectLst/>
                <a:latin typeface="+mn-lt"/>
              </a:rPr>
              <a:t> through rx_sync0 and then rx_sync1. Both flip-flops use clk, giving the first stage time to settle before the second stage samples it.</a:t>
            </a:r>
            <a:br>
              <a:rPr lang="en-US" sz="2800" dirty="0"/>
            </a:b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434257-9CD2-30D9-729A-5F490531AC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665" y="3416142"/>
            <a:ext cx="7006212" cy="28017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549B45-B4DD-5612-038A-1D3200BD7C77}"/>
              </a:ext>
            </a:extLst>
          </p:cNvPr>
          <p:cNvSpPr txBox="1"/>
          <p:nvPr/>
        </p:nvSpPr>
        <p:spPr>
          <a:xfrm>
            <a:off x="7598905" y="3269188"/>
            <a:ext cx="412865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Aft>
                <a:spcPts val="600"/>
              </a:spcAft>
              <a:buNone/>
            </a:pPr>
            <a:r>
              <a:rPr lang="en-US" sz="2800" b="0" i="0" u="none" strike="noStrike" dirty="0">
                <a:solidFill>
                  <a:schemeClr val="tx1"/>
                </a:solidFill>
                <a:effectLst/>
                <a:latin typeface="+mn-lt"/>
              </a:rPr>
              <a:t> The RX logic uses only rx_sync1. This reduces the chance of metastability reaching the rest of the circuit, but does not remove the risk completely.</a:t>
            </a:r>
            <a:endParaRPr lang="en-US" sz="2800" b="0" dirty="0">
              <a:effectLst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2B0E49-D74B-F482-9EEC-7D3320E1F885}"/>
              </a:ext>
            </a:extLst>
          </p:cNvPr>
          <p:cNvSpPr/>
          <p:nvPr/>
        </p:nvSpPr>
        <p:spPr>
          <a:xfrm>
            <a:off x="287134" y="3429000"/>
            <a:ext cx="7003128" cy="278892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915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title"/>
          <p:cNvSpPr txBox="1"/>
          <p:nvPr/>
        </p:nvSpPr>
        <p:spPr>
          <a:xfrm>
            <a:off x="595400" y="340995"/>
            <a:ext cx="8477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3200" b="0" dirty="0">
                <a:solidFill>
                  <a:srgbClr val="0033CC"/>
                </a:solidFill>
                <a:latin typeface="Calibri Light"/>
              </a:rPr>
              <a:t>RX(RECEIVER) state machine</a:t>
            </a:r>
            <a:endParaRPr lang="en-US" sz="3200" dirty="0"/>
          </a:p>
        </p:txBody>
      </p:sp>
      <p:sp>
        <p:nvSpPr>
          <p:cNvPr id="11" name="Point 1"/>
          <p:cNvSpPr txBox="1"/>
          <p:nvPr/>
        </p:nvSpPr>
        <p:spPr>
          <a:xfrm>
            <a:off x="595400" y="985837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2200" b="0">
                <a:solidFill>
                  <a:srgbClr val="202020"/>
                </a:solidFill>
                <a:latin typeface="Calibri"/>
              </a:rPr>
              <a:t>IDLE: wait for a low start bit.</a:t>
            </a:r>
            <a:endParaRPr lang="en-US" sz="2200"/>
          </a:p>
        </p:txBody>
      </p:sp>
      <p:sp>
        <p:nvSpPr>
          <p:cNvPr id="12" name="Point 2"/>
          <p:cNvSpPr txBox="1"/>
          <p:nvPr/>
        </p:nvSpPr>
        <p:spPr>
          <a:xfrm>
            <a:off x="595400" y="1328737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2200" b="0" dirty="0">
                <a:solidFill>
                  <a:srgbClr val="202020"/>
                </a:solidFill>
                <a:latin typeface="Calibri"/>
              </a:rPr>
              <a:t>START: check the start bit.</a:t>
            </a:r>
            <a:endParaRPr lang="en-US" sz="2200" dirty="0"/>
          </a:p>
        </p:txBody>
      </p:sp>
      <p:sp>
        <p:nvSpPr>
          <p:cNvPr id="13" name="Point 3"/>
          <p:cNvSpPr txBox="1"/>
          <p:nvPr/>
        </p:nvSpPr>
        <p:spPr>
          <a:xfrm>
            <a:off x="595400" y="1706879"/>
            <a:ext cx="40005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2200" b="0">
                <a:solidFill>
                  <a:srgbClr val="202020"/>
                </a:solidFill>
                <a:latin typeface="Calibri"/>
              </a:rPr>
              <a:t>DATA: collect the eight data bits.</a:t>
            </a:r>
            <a:endParaRPr lang="en-US" sz="2200"/>
          </a:p>
        </p:txBody>
      </p:sp>
      <p:sp>
        <p:nvSpPr>
          <p:cNvPr id="14" name="Point 4"/>
          <p:cNvSpPr txBox="1"/>
          <p:nvPr/>
        </p:nvSpPr>
        <p:spPr>
          <a:xfrm>
            <a:off x="595400" y="2084241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2200" b="0" dirty="0">
                <a:solidFill>
                  <a:srgbClr val="202020"/>
                </a:solidFill>
                <a:latin typeface="Calibri"/>
              </a:rPr>
              <a:t>STOP: check the stop bit.</a:t>
            </a:r>
            <a:endParaRPr lang="en-US" sz="2200" dirty="0"/>
          </a:p>
        </p:txBody>
      </p:sp>
      <p:sp>
        <p:nvSpPr>
          <p:cNvPr id="15" name="Point 5"/>
          <p:cNvSpPr txBox="1"/>
          <p:nvPr/>
        </p:nvSpPr>
        <p:spPr>
          <a:xfrm>
            <a:off x="595400" y="2468270"/>
            <a:ext cx="40005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2200" b="0" dirty="0">
                <a:solidFill>
                  <a:srgbClr val="202020"/>
                </a:solidFill>
                <a:latin typeface="Calibri"/>
              </a:rPr>
              <a:t>ERROR: wait for the line to return high.</a:t>
            </a:r>
            <a:endParaRPr lang="en-US" sz="2200" dirty="0"/>
          </a:p>
        </p:txBody>
      </p:sp>
      <p:sp>
        <p:nvSpPr>
          <p:cNvPr id="17" name="Slide number"/>
          <p:cNvSpPr txBox="1"/>
          <p:nvPr/>
        </p:nvSpPr>
        <p:spPr>
          <a:xfrm>
            <a:off x="5715000" y="633412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1100" b="0">
                <a:solidFill>
                  <a:srgbClr val="333333"/>
                </a:solidFill>
                <a:latin typeface="Calibri"/>
              </a:rPr>
              <a:t>11</a:t>
            </a:r>
            <a:endParaRPr lang="en-US" sz="11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453F69-6FEA-E459-12C7-6F3DCDD4D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013" y="848937"/>
            <a:ext cx="6903720" cy="5900639"/>
          </a:xfrm>
          <a:prstGeom prst="rect">
            <a:avLst/>
          </a:prstGeom>
        </p:spPr>
      </p:pic>
      <p:sp>
        <p:nvSpPr>
          <p:cNvPr id="6" name="Point 1">
            <a:extLst>
              <a:ext uri="{FF2B5EF4-FFF2-40B4-BE49-F238E27FC236}">
                <a16:creationId xmlns:a16="http://schemas.microsoft.com/office/drawing/2014/main" id="{B0493A64-3FFD-DD57-2704-80CA294CA802}"/>
              </a:ext>
            </a:extLst>
          </p:cNvPr>
          <p:cNvSpPr txBox="1"/>
          <p:nvPr/>
        </p:nvSpPr>
        <p:spPr>
          <a:xfrm>
            <a:off x="595400" y="4484190"/>
            <a:ext cx="4126230" cy="2472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2200" b="0" dirty="0">
                <a:solidFill>
                  <a:srgbClr val="202020"/>
                </a:solidFill>
                <a:latin typeface="Calibri"/>
              </a:rPr>
              <a:t>RX uses 16 timing ticks per bit.</a:t>
            </a:r>
            <a:endParaRPr lang="en-US" sz="2200" dirty="0"/>
          </a:p>
        </p:txBody>
      </p:sp>
      <p:sp>
        <p:nvSpPr>
          <p:cNvPr id="8" name="Point 2">
            <a:extLst>
              <a:ext uri="{FF2B5EF4-FFF2-40B4-BE49-F238E27FC236}">
                <a16:creationId xmlns:a16="http://schemas.microsoft.com/office/drawing/2014/main" id="{5C5F8D5B-1362-916A-79EA-806DF207A4DF}"/>
              </a:ext>
            </a:extLst>
          </p:cNvPr>
          <p:cNvSpPr txBox="1"/>
          <p:nvPr/>
        </p:nvSpPr>
        <p:spPr>
          <a:xfrm>
            <a:off x="595401" y="4950732"/>
            <a:ext cx="412623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2200" b="0" dirty="0">
                <a:solidFill>
                  <a:srgbClr val="202020"/>
                </a:solidFill>
                <a:latin typeface="Calibri"/>
              </a:rPr>
              <a:t>Counter 7: sample near the middle.</a:t>
            </a:r>
            <a:endParaRPr lang="en-US" sz="2200" dirty="0"/>
          </a:p>
        </p:txBody>
      </p:sp>
      <p:sp>
        <p:nvSpPr>
          <p:cNvPr id="18" name="Point 3">
            <a:extLst>
              <a:ext uri="{FF2B5EF4-FFF2-40B4-BE49-F238E27FC236}">
                <a16:creationId xmlns:a16="http://schemas.microsoft.com/office/drawing/2014/main" id="{D3070F34-A762-DFAD-FF4E-077E8658BC3E}"/>
              </a:ext>
            </a:extLst>
          </p:cNvPr>
          <p:cNvSpPr txBox="1"/>
          <p:nvPr/>
        </p:nvSpPr>
        <p:spPr>
          <a:xfrm>
            <a:off x="595400" y="5529263"/>
            <a:ext cx="412623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2200" b="0" dirty="0">
                <a:solidFill>
                  <a:srgbClr val="202020"/>
                </a:solidFill>
                <a:latin typeface="Calibri"/>
              </a:rPr>
              <a:t>Counter 15: finish the current bit.</a:t>
            </a:r>
            <a:endParaRPr lang="en-US" sz="2200" dirty="0"/>
          </a:p>
        </p:txBody>
      </p:sp>
      <p:sp>
        <p:nvSpPr>
          <p:cNvPr id="20" name="Point 4">
            <a:extLst>
              <a:ext uri="{FF2B5EF4-FFF2-40B4-BE49-F238E27FC236}">
                <a16:creationId xmlns:a16="http://schemas.microsoft.com/office/drawing/2014/main" id="{6DFF37BC-09E4-C9A7-F483-5396DD6C294D}"/>
              </a:ext>
            </a:extLst>
          </p:cNvPr>
          <p:cNvSpPr txBox="1"/>
          <p:nvPr/>
        </p:nvSpPr>
        <p:spPr>
          <a:xfrm>
            <a:off x="595400" y="6027489"/>
            <a:ext cx="412623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2200" b="0" dirty="0">
                <a:solidFill>
                  <a:srgbClr val="202020"/>
                </a:solidFill>
                <a:latin typeface="Calibri"/>
              </a:rPr>
              <a:t>The bit counter runs from D0 to D7.</a:t>
            </a:r>
            <a:endParaRPr lang="en-US" sz="2200" dirty="0"/>
          </a:p>
        </p:txBody>
      </p:sp>
      <p:sp>
        <p:nvSpPr>
          <p:cNvPr id="22" name="Slide title">
            <a:extLst>
              <a:ext uri="{FF2B5EF4-FFF2-40B4-BE49-F238E27FC236}">
                <a16:creationId xmlns:a16="http://schemas.microsoft.com/office/drawing/2014/main" id="{DC170787-714C-FA36-F199-801C845963C0}"/>
              </a:ext>
            </a:extLst>
          </p:cNvPr>
          <p:cNvSpPr txBox="1"/>
          <p:nvPr/>
        </p:nvSpPr>
        <p:spPr>
          <a:xfrm>
            <a:off x="595400" y="3698119"/>
            <a:ext cx="8477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3200" b="0" dirty="0">
                <a:solidFill>
                  <a:srgbClr val="0033CC"/>
                </a:solidFill>
                <a:latin typeface="Calibri Light"/>
              </a:rPr>
              <a:t>RX sampling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6F3EDE-3CEB-D0C4-B100-EBC4B5FCCD61}"/>
              </a:ext>
            </a:extLst>
          </p:cNvPr>
          <p:cNvSpPr/>
          <p:nvPr/>
        </p:nvSpPr>
        <p:spPr>
          <a:xfrm>
            <a:off x="4595900" y="848937"/>
            <a:ext cx="6518216" cy="5900639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915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72742B-8B64-D03B-79AB-81A5B4C3F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85164" y="5520234"/>
            <a:ext cx="4114800" cy="365125"/>
          </a:xfrm>
        </p:spPr>
        <p:txBody>
          <a:bodyPr/>
          <a:lstStyle/>
          <a:p>
            <a:r>
              <a:rPr lang="en-US"/>
              <a:t>12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3E47C05-F66B-92F1-1C31-C82676B1B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488759"/>
              </p:ext>
            </p:extLst>
          </p:nvPr>
        </p:nvGraphicFramePr>
        <p:xfrm>
          <a:off x="5985164" y="498765"/>
          <a:ext cx="5261956" cy="61181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6351">
                  <a:extLst>
                    <a:ext uri="{9D8B030D-6E8A-4147-A177-3AD203B41FA5}">
                      <a16:colId xmlns:a16="http://schemas.microsoft.com/office/drawing/2014/main" val="48488752"/>
                    </a:ext>
                  </a:extLst>
                </a:gridCol>
                <a:gridCol w="2320050">
                  <a:extLst>
                    <a:ext uri="{9D8B030D-6E8A-4147-A177-3AD203B41FA5}">
                      <a16:colId xmlns:a16="http://schemas.microsoft.com/office/drawing/2014/main" val="1502391240"/>
                    </a:ext>
                  </a:extLst>
                </a:gridCol>
                <a:gridCol w="731320">
                  <a:extLst>
                    <a:ext uri="{9D8B030D-6E8A-4147-A177-3AD203B41FA5}">
                      <a16:colId xmlns:a16="http://schemas.microsoft.com/office/drawing/2014/main" val="4139037584"/>
                    </a:ext>
                  </a:extLst>
                </a:gridCol>
                <a:gridCol w="1454235">
                  <a:extLst>
                    <a:ext uri="{9D8B030D-6E8A-4147-A177-3AD203B41FA5}">
                      <a16:colId xmlns:a16="http://schemas.microsoft.com/office/drawing/2014/main" val="3492210000"/>
                    </a:ext>
                  </a:extLst>
                </a:gridCol>
              </a:tblGrid>
              <a:tr h="5652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Current state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Input condition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Next state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Outputs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extLst>
                  <a:ext uri="{0D108BD9-81ED-4DB2-BD59-A6C34878D82A}">
                    <a16:rowId xmlns:a16="http://schemas.microsoft.com/office/drawing/2014/main" val="1190821070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IDLE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rx_sync1 = 0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START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(0, 0, 0)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extLst>
                  <a:ext uri="{0D108BD9-81ED-4DB2-BD59-A6C34878D82A}">
                    <a16:rowId xmlns:a16="http://schemas.microsoft.com/office/drawing/2014/main" val="1654451727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IDLE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rx_sync1 = 1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IDLE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(0, 0, 0)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extLst>
                  <a:ext uri="{0D108BD9-81ED-4DB2-BD59-A6C34878D82A}">
                    <a16:rowId xmlns:a16="http://schemas.microsoft.com/office/drawing/2014/main" val="3046869850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START</a:t>
                      </a:r>
                      <a:endParaRPr lang="en-US" sz="1700" dirty="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900" u="none" strike="noStrike" dirty="0" err="1">
                          <a:effectLst/>
                        </a:rPr>
                        <a:t>mid_bit</a:t>
                      </a:r>
                      <a:r>
                        <a:rPr lang="en-US" sz="900" u="none" strike="noStrike" dirty="0">
                          <a:effectLst/>
                        </a:rPr>
                        <a:t> &amp;&amp; rx_sync1</a:t>
                      </a:r>
                      <a:endParaRPr lang="en-US" sz="1700" dirty="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IDLE</a:t>
                      </a:r>
                      <a:endParaRPr lang="en-US" sz="1700" dirty="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(0, 0, 0)</a:t>
                      </a:r>
                      <a:endParaRPr lang="en-US" sz="1700" dirty="0">
                        <a:effectLst/>
                      </a:endParaRPr>
                    </a:p>
                  </a:txBody>
                  <a:tcPr marL="59121" marR="59121" marT="59121" marB="59121" anchor="ctr"/>
                </a:tc>
                <a:extLst>
                  <a:ext uri="{0D108BD9-81ED-4DB2-BD59-A6C34878D82A}">
                    <a16:rowId xmlns:a16="http://schemas.microsoft.com/office/drawing/2014/main" val="251014689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START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bit_end &amp;&amp; !rx_sync1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DATA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(0, 0, 0)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extLst>
                  <a:ext uri="{0D108BD9-81ED-4DB2-BD59-A6C34878D82A}">
                    <a16:rowId xmlns:a16="http://schemas.microsoft.com/office/drawing/2014/main" val="2572317470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START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Otherwise</a:t>
                      </a:r>
                      <a:endParaRPr lang="en-US" sz="1700" dirty="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START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(0, 0, 0)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extLst>
                  <a:ext uri="{0D108BD9-81ED-4DB2-BD59-A6C34878D82A}">
                    <a16:rowId xmlns:a16="http://schemas.microsoft.com/office/drawing/2014/main" val="874004145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DATA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900" u="none" strike="noStrike" dirty="0" err="1">
                          <a:effectLst/>
                        </a:rPr>
                        <a:t>bit_end</a:t>
                      </a:r>
                      <a:r>
                        <a:rPr lang="en-US" sz="900" u="none" strike="noStrike" dirty="0">
                          <a:effectLst/>
                        </a:rPr>
                        <a:t> &amp;&amp; </a:t>
                      </a:r>
                      <a:r>
                        <a:rPr lang="en-US" sz="900" u="none" strike="noStrike" dirty="0" err="1">
                          <a:effectLst/>
                        </a:rPr>
                        <a:t>last_bit</a:t>
                      </a:r>
                      <a:endParaRPr lang="en-US" sz="1700" dirty="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STOP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(0, 0, 0)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extLst>
                  <a:ext uri="{0D108BD9-81ED-4DB2-BD59-A6C34878D82A}">
                    <a16:rowId xmlns:a16="http://schemas.microsoft.com/office/drawing/2014/main" val="813715289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DATA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Otherwise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DATA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(0, 0, 0)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extLst>
                  <a:ext uri="{0D108BD9-81ED-4DB2-BD59-A6C34878D82A}">
                    <a16:rowId xmlns:a16="http://schemas.microsoft.com/office/drawing/2014/main" val="685740602"/>
                  </a:ext>
                </a:extLst>
              </a:tr>
              <a:tr h="5652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STOP</a:t>
                      </a:r>
                      <a:endParaRPr lang="en-US" sz="14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mid_bit</a:t>
                      </a:r>
                      <a:r>
                        <a:rPr lang="en-US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&amp;&amp; rx_sync1</a:t>
                      </a:r>
                      <a:endParaRPr lang="en-US" sz="14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STOP</a:t>
                      </a:r>
                      <a:endParaRPr lang="en-US" sz="14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(1, 0, </a:t>
                      </a:r>
                      <a:r>
                        <a:rPr lang="en-US" sz="14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rx_shift_reg</a:t>
                      </a:r>
                      <a:r>
                        <a:rPr lang="en-US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)</a:t>
                      </a:r>
                      <a:endParaRPr lang="en-US" sz="14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59121" marR="59121" marT="59121" marB="59121" anchor="ctr"/>
                </a:tc>
                <a:extLst>
                  <a:ext uri="{0D108BD9-81ED-4DB2-BD59-A6C34878D82A}">
                    <a16:rowId xmlns:a16="http://schemas.microsoft.com/office/drawing/2014/main" val="1877732578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STOP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bit_end &amp;&amp; rx_sync1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IDLE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(0, 0, 0)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extLst>
                  <a:ext uri="{0D108BD9-81ED-4DB2-BD59-A6C34878D82A}">
                    <a16:rowId xmlns:a16="http://schemas.microsoft.com/office/drawing/2014/main" val="2953065128"/>
                  </a:ext>
                </a:extLst>
              </a:tr>
              <a:tr h="5652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STOP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900" u="none" strike="noStrike" dirty="0" err="1">
                          <a:effectLst/>
                        </a:rPr>
                        <a:t>bit_end</a:t>
                      </a:r>
                      <a:r>
                        <a:rPr lang="en-US" sz="900" u="none" strike="noStrike" dirty="0">
                          <a:effectLst/>
                        </a:rPr>
                        <a:t> &amp;&amp; !rx_sync1</a:t>
                      </a:r>
                      <a:endParaRPr lang="en-US" sz="1700" dirty="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ERROR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(0, 0, 0)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extLst>
                  <a:ext uri="{0D108BD9-81ED-4DB2-BD59-A6C34878D82A}">
                    <a16:rowId xmlns:a16="http://schemas.microsoft.com/office/drawing/2014/main" val="284085036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STOP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Otherwise</a:t>
                      </a:r>
                      <a:endParaRPr lang="en-US" sz="1700" dirty="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STOP</a:t>
                      </a:r>
                      <a:endParaRPr lang="en-US" sz="1700" dirty="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(0, 0, 0)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extLst>
                  <a:ext uri="{0D108BD9-81ED-4DB2-BD59-A6C34878D82A}">
                    <a16:rowId xmlns:a16="http://schemas.microsoft.com/office/drawing/2014/main" val="2457034748"/>
                  </a:ext>
                </a:extLst>
              </a:tr>
              <a:tr h="5652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ERROR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rx_sync1 = 1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IDLE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(0, 0, 0)</a:t>
                      </a:r>
                      <a:endParaRPr lang="en-US" sz="1700">
                        <a:effectLst/>
                      </a:endParaRPr>
                    </a:p>
                  </a:txBody>
                  <a:tcPr marL="59121" marR="59121" marT="59121" marB="59121" anchor="ctr"/>
                </a:tc>
                <a:extLst>
                  <a:ext uri="{0D108BD9-81ED-4DB2-BD59-A6C34878D82A}">
                    <a16:rowId xmlns:a16="http://schemas.microsoft.com/office/drawing/2014/main" val="1575507603"/>
                  </a:ext>
                </a:extLst>
              </a:tr>
              <a:tr h="5652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ERROR</a:t>
                      </a:r>
                      <a:endParaRPr lang="en-US" sz="14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rx_sync1 = 0</a:t>
                      </a:r>
                      <a:endParaRPr lang="en-US" sz="14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ERROR</a:t>
                      </a:r>
                      <a:endParaRPr lang="en-US" sz="14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59121" marR="59121" marT="59121" marB="59121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(0, 1, 0)</a:t>
                      </a:r>
                      <a:endParaRPr lang="en-US" sz="14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59121" marR="59121" marT="59121" marB="59121" anchor="ctr"/>
                </a:tc>
                <a:extLst>
                  <a:ext uri="{0D108BD9-81ED-4DB2-BD59-A6C34878D82A}">
                    <a16:rowId xmlns:a16="http://schemas.microsoft.com/office/drawing/2014/main" val="210789928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A801AB2-9038-9F7F-9D8B-5938B7E78A10}"/>
              </a:ext>
            </a:extLst>
          </p:cNvPr>
          <p:cNvSpPr txBox="1"/>
          <p:nvPr/>
        </p:nvSpPr>
        <p:spPr>
          <a:xfrm>
            <a:off x="256307" y="1025894"/>
            <a:ext cx="5504413" cy="3801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600"/>
              </a:spcAft>
              <a:buNone/>
            </a:pPr>
            <a:endParaRPr lang="en-US" b="1" dirty="0">
              <a:effectLst/>
            </a:endParaRPr>
          </a:p>
          <a:p>
            <a:pPr rtl="0">
              <a:spcAft>
                <a:spcPts val="600"/>
              </a:spcAft>
              <a:buNone/>
            </a:pP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The output tuple is (</a:t>
            </a:r>
            <a:r>
              <a:rPr lang="en-US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rx_valid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en-US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rx_error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en-US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rx_data_out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). The conditions below use OVERSAMPLE = 16 and DATA_WIDTH = 8.</a:t>
            </a:r>
            <a:endParaRPr lang="en-US" b="0" dirty="0">
              <a:effectLst/>
            </a:endParaRPr>
          </a:p>
          <a:p>
            <a:pPr rtl="0">
              <a:spcAft>
                <a:spcPts val="600"/>
              </a:spcAft>
              <a:buNone/>
            </a:pPr>
            <a:r>
              <a:rPr lang="en-US" b="1" i="0" u="none" strike="noStrike" dirty="0" err="1">
                <a:solidFill>
                  <a:schemeClr val="tx1"/>
                </a:solidFill>
                <a:effectLst/>
                <a:latin typeface="+mn-lt"/>
              </a:rPr>
              <a:t>mid_bit</a:t>
            </a:r>
            <a:r>
              <a:rPr lang="en-US" b="1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= baud_tick_x16 &amp;&amp; (</a:t>
            </a:r>
            <a:r>
              <a:rPr lang="en-US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oversample_counter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 == 7). RX uses this point to sample near the middle of a bit.</a:t>
            </a:r>
            <a:endParaRPr lang="en-US" b="0" dirty="0">
              <a:effectLst/>
            </a:endParaRPr>
          </a:p>
          <a:p>
            <a:pPr rtl="0">
              <a:spcAft>
                <a:spcPts val="600"/>
              </a:spcAft>
              <a:buNone/>
            </a:pPr>
            <a:r>
              <a:rPr lang="en-US" b="1" i="0" u="none" strike="noStrike" dirty="0" err="1">
                <a:solidFill>
                  <a:schemeClr val="tx1"/>
                </a:solidFill>
                <a:effectLst/>
                <a:latin typeface="+mn-lt"/>
              </a:rPr>
              <a:t>bit_end</a:t>
            </a:r>
            <a:r>
              <a:rPr lang="en-US" b="1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= baud_tick_x16 &amp;&amp; (</a:t>
            </a:r>
            <a:r>
              <a:rPr lang="en-US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oversample_counter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 == 15). This marks the end of the current bit.</a:t>
            </a:r>
            <a:endParaRPr lang="en-US" b="0" dirty="0">
              <a:effectLst/>
            </a:endParaRPr>
          </a:p>
          <a:p>
            <a:pPr rtl="0">
              <a:spcAft>
                <a:spcPts val="600"/>
              </a:spcAft>
              <a:buNone/>
            </a:pPr>
            <a:r>
              <a:rPr lang="en-US" b="1" i="0" u="none" strike="noStrike" dirty="0" err="1">
                <a:solidFill>
                  <a:schemeClr val="tx1"/>
                </a:solidFill>
                <a:effectLst/>
                <a:latin typeface="+mn-lt"/>
              </a:rPr>
              <a:t>last_bit</a:t>
            </a:r>
            <a:r>
              <a:rPr lang="en-US" b="1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= (</a:t>
            </a:r>
            <a:r>
              <a:rPr lang="en-US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rx_bit_counter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 == 7). This indicates the final data bit, D7.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7" name="Slide title">
            <a:extLst>
              <a:ext uri="{FF2B5EF4-FFF2-40B4-BE49-F238E27FC236}">
                <a16:creationId xmlns:a16="http://schemas.microsoft.com/office/drawing/2014/main" id="{A765A186-3747-373A-9843-E4D9E5B1A2EA}"/>
              </a:ext>
            </a:extLst>
          </p:cNvPr>
          <p:cNvSpPr txBox="1"/>
          <p:nvPr/>
        </p:nvSpPr>
        <p:spPr>
          <a:xfrm>
            <a:off x="389310" y="215379"/>
            <a:ext cx="8477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3200" b="0" dirty="0">
                <a:solidFill>
                  <a:srgbClr val="0033CC"/>
                </a:solidFill>
                <a:latin typeface="Calibri Light"/>
              </a:rPr>
              <a:t>RX </a:t>
            </a:r>
            <a:r>
              <a:rPr lang="en-US" sz="3200" dirty="0">
                <a:solidFill>
                  <a:srgbClr val="0033CC"/>
                </a:solidFill>
                <a:latin typeface="Calibri Light"/>
              </a:rPr>
              <a:t>Mealy state table</a:t>
            </a:r>
            <a:endParaRPr lang="en-US" sz="3200" dirty="0"/>
          </a:p>
        </p:txBody>
      </p:sp>
      <p:sp>
        <p:nvSpPr>
          <p:cNvPr id="9" name="Point 1">
            <a:extLst>
              <a:ext uri="{FF2B5EF4-FFF2-40B4-BE49-F238E27FC236}">
                <a16:creationId xmlns:a16="http://schemas.microsoft.com/office/drawing/2014/main" id="{F4C85015-CC12-914C-723A-163676F707FE}"/>
              </a:ext>
            </a:extLst>
          </p:cNvPr>
          <p:cNvSpPr txBox="1"/>
          <p:nvPr/>
        </p:nvSpPr>
        <p:spPr>
          <a:xfrm>
            <a:off x="389310" y="4402054"/>
            <a:ext cx="4673140" cy="63288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b="0" dirty="0" err="1">
                <a:solidFill>
                  <a:srgbClr val="202020"/>
                </a:solidFill>
                <a:latin typeface="Calibri"/>
              </a:rPr>
              <a:t>rx_data_out</a:t>
            </a:r>
            <a:r>
              <a:rPr lang="en-US" b="0" dirty="0">
                <a:solidFill>
                  <a:srgbClr val="202020"/>
                </a:solidFill>
                <a:latin typeface="Calibri"/>
              </a:rPr>
              <a:t>[7:0] holds the received byte only while </a:t>
            </a:r>
            <a:r>
              <a:rPr lang="en-US" b="0" dirty="0" err="1">
                <a:solidFill>
                  <a:srgbClr val="202020"/>
                </a:solidFill>
                <a:latin typeface="Calibri"/>
              </a:rPr>
              <a:t>rx_valid</a:t>
            </a:r>
            <a:r>
              <a:rPr lang="en-US" b="0" dirty="0">
                <a:solidFill>
                  <a:srgbClr val="202020"/>
                </a:solidFill>
                <a:latin typeface="Calibri"/>
              </a:rPr>
              <a:t> is high.</a:t>
            </a:r>
            <a:endParaRPr lang="en-US" dirty="0"/>
          </a:p>
        </p:txBody>
      </p:sp>
      <p:sp>
        <p:nvSpPr>
          <p:cNvPr id="11" name="Point 2">
            <a:extLst>
              <a:ext uri="{FF2B5EF4-FFF2-40B4-BE49-F238E27FC236}">
                <a16:creationId xmlns:a16="http://schemas.microsoft.com/office/drawing/2014/main" id="{5AE239A0-46DF-5AFF-E814-9A5970F4B8B4}"/>
              </a:ext>
            </a:extLst>
          </p:cNvPr>
          <p:cNvSpPr txBox="1"/>
          <p:nvPr/>
        </p:nvSpPr>
        <p:spPr>
          <a:xfrm>
            <a:off x="389311" y="5156426"/>
            <a:ext cx="7298575" cy="365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b="0" dirty="0">
                <a:solidFill>
                  <a:srgbClr val="202020"/>
                </a:solidFill>
                <a:latin typeface="Calibri"/>
              </a:rPr>
              <a:t>In STOP, a high line at </a:t>
            </a:r>
            <a:r>
              <a:rPr lang="en-US" b="0" dirty="0" err="1">
                <a:solidFill>
                  <a:srgbClr val="202020"/>
                </a:solidFill>
                <a:latin typeface="Calibri"/>
              </a:rPr>
              <a:t>mid_bit</a:t>
            </a:r>
            <a:r>
              <a:rPr lang="en-US" b="0" dirty="0">
                <a:solidFill>
                  <a:srgbClr val="202020"/>
                </a:solidFill>
                <a:latin typeface="Calibri"/>
              </a:rPr>
              <a:t> asserts </a:t>
            </a:r>
            <a:r>
              <a:rPr lang="en-US" b="0" dirty="0" err="1">
                <a:solidFill>
                  <a:srgbClr val="202020"/>
                </a:solidFill>
                <a:latin typeface="Calibri"/>
              </a:rPr>
              <a:t>rx_valid</a:t>
            </a:r>
            <a:r>
              <a:rPr lang="en-US" b="0" dirty="0">
                <a:solidFill>
                  <a:srgbClr val="202020"/>
                </a:solidFill>
                <a:latin typeface="Calibri"/>
              </a:rPr>
              <a:t>.</a:t>
            </a:r>
            <a:endParaRPr lang="en-US" dirty="0"/>
          </a:p>
        </p:txBody>
      </p:sp>
      <p:sp>
        <p:nvSpPr>
          <p:cNvPr id="13" name="Point 3">
            <a:extLst>
              <a:ext uri="{FF2B5EF4-FFF2-40B4-BE49-F238E27FC236}">
                <a16:creationId xmlns:a16="http://schemas.microsoft.com/office/drawing/2014/main" id="{B20DB7D6-40ED-DEBB-82EB-F3712F9EE78C}"/>
              </a:ext>
            </a:extLst>
          </p:cNvPr>
          <p:cNvSpPr txBox="1"/>
          <p:nvPr/>
        </p:nvSpPr>
        <p:spPr>
          <a:xfrm>
            <a:off x="389310" y="5642381"/>
            <a:ext cx="7298575" cy="365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b="0" dirty="0">
                <a:solidFill>
                  <a:srgbClr val="202020"/>
                </a:solidFill>
                <a:latin typeface="Calibri"/>
              </a:rPr>
              <a:t>At </a:t>
            </a:r>
            <a:r>
              <a:rPr lang="en-US" b="0" dirty="0" err="1">
                <a:solidFill>
                  <a:srgbClr val="202020"/>
                </a:solidFill>
                <a:latin typeface="Calibri"/>
              </a:rPr>
              <a:t>bit_end</a:t>
            </a:r>
            <a:r>
              <a:rPr lang="en-US" b="0" dirty="0">
                <a:solidFill>
                  <a:srgbClr val="202020"/>
                </a:solidFill>
                <a:latin typeface="Calibri"/>
              </a:rPr>
              <a:t>, a low stop bit sends RX to ERROR.</a:t>
            </a:r>
            <a:endParaRPr lang="en-US" dirty="0"/>
          </a:p>
        </p:txBody>
      </p:sp>
      <p:sp>
        <p:nvSpPr>
          <p:cNvPr id="15" name="Point 4">
            <a:extLst>
              <a:ext uri="{FF2B5EF4-FFF2-40B4-BE49-F238E27FC236}">
                <a16:creationId xmlns:a16="http://schemas.microsoft.com/office/drawing/2014/main" id="{F9D740EA-339D-5B46-C7A6-E417E05840F0}"/>
              </a:ext>
            </a:extLst>
          </p:cNvPr>
          <p:cNvSpPr txBox="1"/>
          <p:nvPr/>
        </p:nvSpPr>
        <p:spPr>
          <a:xfrm>
            <a:off x="389312" y="6128336"/>
            <a:ext cx="7298575" cy="365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b="0" dirty="0" err="1">
                <a:solidFill>
                  <a:srgbClr val="202020"/>
                </a:solidFill>
                <a:latin typeface="Calibri"/>
              </a:rPr>
              <a:t>rx_error</a:t>
            </a:r>
            <a:r>
              <a:rPr lang="en-US" b="0" dirty="0">
                <a:solidFill>
                  <a:srgbClr val="202020"/>
                </a:solidFill>
                <a:latin typeface="Calibri"/>
              </a:rPr>
              <a:t> stays high in ERROR while the line is low.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AD45AA-D63C-2F9D-1A8A-27A556336C71}"/>
              </a:ext>
            </a:extLst>
          </p:cNvPr>
          <p:cNvSpPr/>
          <p:nvPr/>
        </p:nvSpPr>
        <p:spPr>
          <a:xfrm>
            <a:off x="249382" y="2277687"/>
            <a:ext cx="5511338" cy="2124367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194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title"/>
          <p:cNvSpPr txBox="1"/>
          <p:nvPr/>
        </p:nvSpPr>
        <p:spPr>
          <a:xfrm>
            <a:off x="188075" y="38736"/>
            <a:ext cx="8477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3200" b="0" dirty="0">
                <a:solidFill>
                  <a:srgbClr val="0033CC"/>
                </a:solidFill>
                <a:latin typeface="Calibri Light"/>
              </a:rPr>
              <a:t>RX </a:t>
            </a:r>
            <a:r>
              <a:rPr lang="en-US" sz="3200" b="0" dirty="0" err="1">
                <a:solidFill>
                  <a:srgbClr val="0033CC"/>
                </a:solidFill>
                <a:latin typeface="Calibri Light"/>
              </a:rPr>
              <a:t>data_out</a:t>
            </a:r>
            <a:endParaRPr lang="en-US" sz="3200" dirty="0"/>
          </a:p>
        </p:txBody>
      </p:sp>
      <p:sp>
        <p:nvSpPr>
          <p:cNvPr id="11" name="Point 1"/>
          <p:cNvSpPr txBox="1"/>
          <p:nvPr/>
        </p:nvSpPr>
        <p:spPr>
          <a:xfrm>
            <a:off x="188075" y="537134"/>
            <a:ext cx="11183563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2400" dirty="0" err="1"/>
              <a:t>rx_data_out</a:t>
            </a:r>
            <a:r>
              <a:rPr lang="en-US" sz="2400" dirty="0"/>
              <a:t>[7:0] holds the received byte only while </a:t>
            </a:r>
            <a:r>
              <a:rPr lang="en-US" sz="2400" dirty="0" err="1"/>
              <a:t>rx_valid</a:t>
            </a:r>
            <a:r>
              <a:rPr lang="en-US" sz="2400" dirty="0"/>
              <a:t> is high (state STOP). Before that, it stays 0 while </a:t>
            </a:r>
            <a:r>
              <a:rPr lang="en-US" sz="2400" dirty="0" err="1"/>
              <a:t>rx_shift_reg</a:t>
            </a:r>
            <a:r>
              <a:rPr lang="en-US" sz="2400" dirty="0"/>
              <a:t> fills bit by bit.</a:t>
            </a:r>
            <a:endParaRPr lang="en-US" sz="2200" dirty="0"/>
          </a:p>
        </p:txBody>
      </p:sp>
      <p:sp>
        <p:nvSpPr>
          <p:cNvPr id="16" name="Slide number"/>
          <p:cNvSpPr txBox="1"/>
          <p:nvPr/>
        </p:nvSpPr>
        <p:spPr>
          <a:xfrm>
            <a:off x="5715000" y="633412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1100" b="0">
                <a:solidFill>
                  <a:srgbClr val="333333"/>
                </a:solidFill>
                <a:latin typeface="Calibri"/>
              </a:rPr>
              <a:t>12</a:t>
            </a:r>
            <a:endParaRPr lang="en-US" sz="11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89A5D6-8A69-A2C3-3A25-BA63B67E5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076" y="1610131"/>
            <a:ext cx="8646642" cy="2549651"/>
          </a:xfrm>
          <a:prstGeom prst="rect">
            <a:avLst/>
          </a:prstGeom>
          <a:ln w="57150">
            <a:solidFill>
              <a:srgbClr val="00B0F0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6C446D-EED0-B4CC-C991-377392AC9A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075" y="4365930"/>
            <a:ext cx="8646643" cy="1905036"/>
          </a:xfrm>
          <a:prstGeom prst="rect">
            <a:avLst/>
          </a:prstGeom>
          <a:ln w="57150">
            <a:solidFill>
              <a:srgbClr val="00B0F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D885AD-E502-E631-4A5C-F32C78A92EBB}"/>
              </a:ext>
            </a:extLst>
          </p:cNvPr>
          <p:cNvSpPr txBox="1"/>
          <p:nvPr/>
        </p:nvSpPr>
        <p:spPr>
          <a:xfrm>
            <a:off x="9092759" y="3282619"/>
            <a:ext cx="2803100" cy="175432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 the second waveform, </a:t>
            </a:r>
            <a:r>
              <a:rPr lang="en-US" dirty="0" err="1"/>
              <a:t>rx_data_out</a:t>
            </a:r>
            <a:r>
              <a:rPr lang="en-US" dirty="0"/>
              <a:t> is valid for one clk cycle only (baud_tick_x16 = 1, </a:t>
            </a:r>
            <a:r>
              <a:rPr lang="en-US" dirty="0" err="1"/>
              <a:t>oversample_counter</a:t>
            </a:r>
            <a:r>
              <a:rPr lang="en-US" dirty="0"/>
              <a:t> = 7, middle of the stop bit).</a:t>
            </a:r>
          </a:p>
        </p:txBody>
      </p:sp>
    </p:spTree>
    <p:extLst>
      <p:ext uri="{BB962C8B-B14F-4D97-AF65-F5344CB8AC3E}">
        <p14:creationId xmlns:p14="http://schemas.microsoft.com/office/powerpoint/2010/main" val="1131915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E4C479D-E8A3-FCAA-A0C2-49D883768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</a:t>
            </a:r>
          </a:p>
        </p:txBody>
      </p:sp>
      <p:sp>
        <p:nvSpPr>
          <p:cNvPr id="4" name="Slide title">
            <a:extLst>
              <a:ext uri="{FF2B5EF4-FFF2-40B4-BE49-F238E27FC236}">
                <a16:creationId xmlns:a16="http://schemas.microsoft.com/office/drawing/2014/main" id="{84E513E9-CA8B-E8F9-7F46-CEAF83410541}"/>
              </a:ext>
            </a:extLst>
          </p:cNvPr>
          <p:cNvSpPr txBox="1"/>
          <p:nvPr/>
        </p:nvSpPr>
        <p:spPr>
          <a:xfrm>
            <a:off x="188075" y="38736"/>
            <a:ext cx="8477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3200" dirty="0">
                <a:solidFill>
                  <a:srgbClr val="0033CC"/>
                </a:solidFill>
                <a:latin typeface="Calibri Light"/>
              </a:rPr>
              <a:t>FIFO for TX in UART</a:t>
            </a:r>
            <a:endParaRPr 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2180D7-4B57-5C29-A9D1-689D442A752F}"/>
              </a:ext>
            </a:extLst>
          </p:cNvPr>
          <p:cNvSpPr txBox="1"/>
          <p:nvPr/>
        </p:nvSpPr>
        <p:spPr>
          <a:xfrm>
            <a:off x="188075" y="729153"/>
            <a:ext cx="58386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dirty="0"/>
              <a:t>A FIFO is added on TX side so data can wait in a queue.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b="1" dirty="0"/>
              <a:t>TX FIFO:</a:t>
            </a:r>
            <a:r>
              <a:rPr lang="en-US" dirty="0"/>
              <a:t> outside logic writes bytes in; </a:t>
            </a:r>
            <a:r>
              <a:rPr lang="en-US" dirty="0" err="1">
                <a:latin typeface="+mn-lt"/>
              </a:rPr>
              <a:t>uart_tx</a:t>
            </a:r>
            <a:r>
              <a:rPr lang="en-US" dirty="0"/>
              <a:t> reads them out and sends.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dirty="0"/>
              <a:t>Size: </a:t>
            </a:r>
            <a:r>
              <a:rPr lang="en-US" dirty="0">
                <a:latin typeface="+mn-lt"/>
              </a:rPr>
              <a:t>FIFO_DEPTH</a:t>
            </a:r>
            <a:r>
              <a:rPr lang="en-US" dirty="0"/>
              <a:t> = 8 bytes, width = 8 bits.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Bytes remain in the FIFO until they are read.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39456EB-9560-AB8E-BE0E-C6C536B9B1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881873"/>
              </p:ext>
            </p:extLst>
          </p:nvPr>
        </p:nvGraphicFramePr>
        <p:xfrm>
          <a:off x="548640" y="4651520"/>
          <a:ext cx="10989422" cy="162458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91234">
                  <a:extLst>
                    <a:ext uri="{9D8B030D-6E8A-4147-A177-3AD203B41FA5}">
                      <a16:colId xmlns:a16="http://schemas.microsoft.com/office/drawing/2014/main" val="1654500262"/>
                    </a:ext>
                  </a:extLst>
                </a:gridCol>
                <a:gridCol w="2199547">
                  <a:extLst>
                    <a:ext uri="{9D8B030D-6E8A-4147-A177-3AD203B41FA5}">
                      <a16:colId xmlns:a16="http://schemas.microsoft.com/office/drawing/2014/main" val="1441647525"/>
                    </a:ext>
                  </a:extLst>
                </a:gridCol>
                <a:gridCol w="2199547">
                  <a:extLst>
                    <a:ext uri="{9D8B030D-6E8A-4147-A177-3AD203B41FA5}">
                      <a16:colId xmlns:a16="http://schemas.microsoft.com/office/drawing/2014/main" val="2562891026"/>
                    </a:ext>
                  </a:extLst>
                </a:gridCol>
                <a:gridCol w="2199547">
                  <a:extLst>
                    <a:ext uri="{9D8B030D-6E8A-4147-A177-3AD203B41FA5}">
                      <a16:colId xmlns:a16="http://schemas.microsoft.com/office/drawing/2014/main" val="340187898"/>
                    </a:ext>
                  </a:extLst>
                </a:gridCol>
                <a:gridCol w="2199547">
                  <a:extLst>
                    <a:ext uri="{9D8B030D-6E8A-4147-A177-3AD203B41FA5}">
                      <a16:colId xmlns:a16="http://schemas.microsoft.com/office/drawing/2014/main" val="3286435475"/>
                    </a:ext>
                  </a:extLst>
                </a:gridCol>
              </a:tblGrid>
              <a:tr h="590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Write enable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 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Read enable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 out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7497321"/>
                  </a:ext>
                </a:extLst>
              </a:tr>
              <a:tr h="1033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ysClr val="windowText" lastClr="000000"/>
                          </a:solidFill>
                        </a:rPr>
                        <a:t>TX FIFO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tx_fifo_wr_en</a:t>
                      </a:r>
                      <a:r>
                        <a:rPr lang="en-US" dirty="0"/>
                        <a:t> (external)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tx_data_in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tx_ready</a:t>
                      </a:r>
                      <a:r>
                        <a:rPr lang="en-US" dirty="0"/>
                        <a:t> &amp;&amp; </a:t>
                      </a:r>
                      <a:r>
                        <a:rPr lang="en-US" dirty="0" err="1"/>
                        <a:t>tx_valid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UART TX Data 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9670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3E1CFFB-5629-8C05-A07A-3E623CB21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796" y="2223231"/>
            <a:ext cx="8477251" cy="23136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490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901AD0A-324C-9C99-B743-CD5A8B4F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</a:t>
            </a:r>
          </a:p>
        </p:txBody>
      </p:sp>
      <p:sp>
        <p:nvSpPr>
          <p:cNvPr id="5" name="Slide title">
            <a:extLst>
              <a:ext uri="{FF2B5EF4-FFF2-40B4-BE49-F238E27FC236}">
                <a16:creationId xmlns:a16="http://schemas.microsoft.com/office/drawing/2014/main" id="{E73B745B-E281-F223-557B-831736D01160}"/>
              </a:ext>
            </a:extLst>
          </p:cNvPr>
          <p:cNvSpPr txBox="1"/>
          <p:nvPr/>
        </p:nvSpPr>
        <p:spPr>
          <a:xfrm>
            <a:off x="188075" y="38736"/>
            <a:ext cx="8477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3200" dirty="0">
                <a:solidFill>
                  <a:srgbClr val="0033CC"/>
                </a:solidFill>
                <a:latin typeface="Calibri Light"/>
              </a:rPr>
              <a:t>FIFO for RX in UART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3541AE-F3B4-F507-1A01-7626A4EF8444}"/>
              </a:ext>
            </a:extLst>
          </p:cNvPr>
          <p:cNvSpPr txBox="1"/>
          <p:nvPr/>
        </p:nvSpPr>
        <p:spPr>
          <a:xfrm>
            <a:off x="421870" y="705486"/>
            <a:ext cx="61306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dirty="0"/>
              <a:t>A FIFO is added on RX side so data can wait in a queue.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/>
              <a:t>RX FIFO:</a:t>
            </a:r>
            <a:r>
              <a:rPr lang="en-US" sz="1800" dirty="0"/>
              <a:t> each </a:t>
            </a:r>
            <a:r>
              <a:rPr lang="en-US" sz="1800" dirty="0" err="1">
                <a:latin typeface="+mn-lt"/>
              </a:rPr>
              <a:t>rx_valid</a:t>
            </a:r>
            <a:r>
              <a:rPr lang="en-US" sz="1800" dirty="0"/>
              <a:t> pulse writes the received byte; outside logic reads it later.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dirty="0"/>
              <a:t>Size: </a:t>
            </a:r>
            <a:r>
              <a:rPr lang="en-US" sz="1800" dirty="0">
                <a:latin typeface="+mn-lt"/>
              </a:rPr>
              <a:t>FIFO_DEPTH</a:t>
            </a:r>
            <a:r>
              <a:rPr lang="en-US" sz="1800" dirty="0"/>
              <a:t> = 8 bytes, width = 8 bits.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Bytes remain in the FIFO until they are read.</a:t>
            </a:r>
            <a:endParaRPr lang="en-US" sz="18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D8F7DB8-5847-4D9D-0B5E-3565D39776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669414"/>
              </p:ext>
            </p:extLst>
          </p:nvPr>
        </p:nvGraphicFramePr>
        <p:xfrm>
          <a:off x="838200" y="4530436"/>
          <a:ext cx="10997735" cy="1839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99547">
                  <a:extLst>
                    <a:ext uri="{9D8B030D-6E8A-4147-A177-3AD203B41FA5}">
                      <a16:colId xmlns:a16="http://schemas.microsoft.com/office/drawing/2014/main" val="2496420994"/>
                    </a:ext>
                  </a:extLst>
                </a:gridCol>
                <a:gridCol w="2199547">
                  <a:extLst>
                    <a:ext uri="{9D8B030D-6E8A-4147-A177-3AD203B41FA5}">
                      <a16:colId xmlns:a16="http://schemas.microsoft.com/office/drawing/2014/main" val="3621040283"/>
                    </a:ext>
                  </a:extLst>
                </a:gridCol>
                <a:gridCol w="2199547">
                  <a:extLst>
                    <a:ext uri="{9D8B030D-6E8A-4147-A177-3AD203B41FA5}">
                      <a16:colId xmlns:a16="http://schemas.microsoft.com/office/drawing/2014/main" val="1294912147"/>
                    </a:ext>
                  </a:extLst>
                </a:gridCol>
                <a:gridCol w="2199547">
                  <a:extLst>
                    <a:ext uri="{9D8B030D-6E8A-4147-A177-3AD203B41FA5}">
                      <a16:colId xmlns:a16="http://schemas.microsoft.com/office/drawing/2014/main" val="3594560345"/>
                    </a:ext>
                  </a:extLst>
                </a:gridCol>
                <a:gridCol w="2199547">
                  <a:extLst>
                    <a:ext uri="{9D8B030D-6E8A-4147-A177-3AD203B41FA5}">
                      <a16:colId xmlns:a16="http://schemas.microsoft.com/office/drawing/2014/main" val="497871684"/>
                    </a:ext>
                  </a:extLst>
                </a:gridCol>
              </a:tblGrid>
              <a:tr h="66893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Write enable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 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Read enable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 out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4784338"/>
                  </a:ext>
                </a:extLst>
              </a:tr>
              <a:tr h="1170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ysClr val="windowText" lastClr="000000"/>
                          </a:solidFill>
                        </a:rPr>
                        <a:t>RX FIFO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rx_valid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rx_data_out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rx_fifo_rd_en</a:t>
                      </a:r>
                      <a:r>
                        <a:rPr lang="en-US" dirty="0"/>
                        <a:t> (external)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rx_fifo_data_out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0668865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F9EDF973-DD0F-BBE8-F26A-CB88DE9F6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144" y="2295589"/>
            <a:ext cx="8912700" cy="21220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24807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title"/>
          <p:cNvSpPr txBox="1"/>
          <p:nvPr/>
        </p:nvSpPr>
        <p:spPr>
          <a:xfrm>
            <a:off x="653588" y="190846"/>
            <a:ext cx="8477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3200" dirty="0">
                <a:solidFill>
                  <a:srgbClr val="0033CC"/>
                </a:solidFill>
                <a:latin typeface="Calibri Light"/>
              </a:rPr>
              <a:t>Loop Back test TX </a:t>
            </a:r>
            <a:r>
              <a:rPr lang="en-US" sz="3200" dirty="0">
                <a:solidFill>
                  <a:srgbClr val="0033CC"/>
                </a:solidFill>
                <a:latin typeface="Calibri Light"/>
                <a:sym typeface="Wingdings" panose="05000000000000000000" pitchFamily="2" charset="2"/>
              </a:rPr>
              <a:t> RX</a:t>
            </a:r>
            <a:endParaRPr lang="en-US" sz="3200" dirty="0"/>
          </a:p>
        </p:txBody>
      </p:sp>
      <p:sp>
        <p:nvSpPr>
          <p:cNvPr id="11" name="Point 1"/>
          <p:cNvSpPr txBox="1"/>
          <p:nvPr/>
        </p:nvSpPr>
        <p:spPr>
          <a:xfrm>
            <a:off x="653588" y="781396"/>
            <a:ext cx="8286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2200" b="0">
                <a:solidFill>
                  <a:srgbClr val="202020"/>
                </a:solidFill>
                <a:latin typeface="Calibri"/>
              </a:rPr>
              <a:t>Connect TX output to RX input.</a:t>
            </a:r>
            <a:endParaRPr lang="en-US" sz="2200"/>
          </a:p>
        </p:txBody>
      </p:sp>
      <p:sp>
        <p:nvSpPr>
          <p:cNvPr id="13" name="Point 3"/>
          <p:cNvSpPr txBox="1"/>
          <p:nvPr/>
        </p:nvSpPr>
        <p:spPr>
          <a:xfrm>
            <a:off x="4294562" y="781396"/>
            <a:ext cx="8286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2200" b="0">
                <a:solidFill>
                  <a:srgbClr val="202020"/>
                </a:solidFill>
                <a:latin typeface="Calibri"/>
              </a:rPr>
              <a:t>Compare each received byte when rx_valid is high.</a:t>
            </a:r>
            <a:endParaRPr lang="en-US" sz="2200"/>
          </a:p>
        </p:txBody>
      </p:sp>
      <p:sp>
        <p:nvSpPr>
          <p:cNvPr id="15" name="Slide number"/>
          <p:cNvSpPr txBox="1"/>
          <p:nvPr/>
        </p:nvSpPr>
        <p:spPr>
          <a:xfrm>
            <a:off x="5715000" y="633412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1100" b="0">
                <a:solidFill>
                  <a:srgbClr val="333333"/>
                </a:solidFill>
                <a:latin typeface="Calibri"/>
              </a:rPr>
              <a:t>13</a:t>
            </a:r>
            <a:endParaRPr lang="en-US" sz="11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67D457-6E05-10DD-EFDA-FA6C289B04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3318" y="2114896"/>
            <a:ext cx="5585036" cy="247372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239327-6C17-9AC1-F2AD-5843091FBA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525" y="2114896"/>
            <a:ext cx="5344316" cy="42192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B3CF4A-2B25-7322-2A76-FB68054AD9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4733843"/>
            <a:ext cx="3911801" cy="160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915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title"/>
          <p:cNvSpPr txBox="1"/>
          <p:nvPr/>
        </p:nvSpPr>
        <p:spPr>
          <a:xfrm>
            <a:off x="1925435" y="285750"/>
            <a:ext cx="8477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3200" b="0">
                <a:solidFill>
                  <a:srgbClr val="0033CC"/>
                </a:solidFill>
                <a:latin typeface="Calibri Light"/>
              </a:rPr>
              <a:t>Summary</a:t>
            </a:r>
            <a:endParaRPr lang="en-US" sz="3200"/>
          </a:p>
        </p:txBody>
      </p:sp>
      <p:sp>
        <p:nvSpPr>
          <p:cNvPr id="16" name="Slide number"/>
          <p:cNvSpPr txBox="1"/>
          <p:nvPr/>
        </p:nvSpPr>
        <p:spPr>
          <a:xfrm>
            <a:off x="5715000" y="633412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1100" b="0">
                <a:solidFill>
                  <a:srgbClr val="333333"/>
                </a:solidFill>
                <a:latin typeface="Calibri"/>
              </a:rPr>
              <a:t>14</a:t>
            </a:r>
            <a:endParaRPr lang="en-US" sz="11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64415B-F729-0F69-C941-E92C076638C7}"/>
              </a:ext>
            </a:extLst>
          </p:cNvPr>
          <p:cNvSpPr txBox="1"/>
          <p:nvPr/>
        </p:nvSpPr>
        <p:spPr>
          <a:xfrm>
            <a:off x="523701" y="826917"/>
            <a:ext cx="10731731" cy="5016758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000" b="1" dirty="0"/>
              <a:t>Design</a:t>
            </a:r>
            <a:endParaRPr lang="en-US" sz="2000" dirty="0"/>
          </a:p>
          <a:p>
            <a:pPr lvl="0" rtl="0"/>
            <a:r>
              <a:rPr lang="en-US" sz="2000" dirty="0"/>
              <a:t>-    The controller sends and receives UART 8N1 frames at 115200 baud (50 MHz clock, 16× oversampling).</a:t>
            </a:r>
          </a:p>
          <a:p>
            <a:pPr lvl="0" rtl="0"/>
            <a:r>
              <a:rPr lang="en-US" sz="2000" dirty="0"/>
              <a:t>-    One shared generator provides the 16× timing ticks (divisor 27, baud-rate error ≈ +0.47%).</a:t>
            </a:r>
          </a:p>
          <a:p>
            <a:pPr marL="342900" lvl="0" indent="-342900" rtl="0">
              <a:buFontTx/>
              <a:buChar char="-"/>
            </a:pPr>
            <a:r>
              <a:rPr lang="en-US" sz="2000" dirty="0"/>
              <a:t>TX changes bits at the bit boundary; RX samples near the middle of each bit.</a:t>
            </a:r>
          </a:p>
          <a:p>
            <a:pPr marL="342900" lvl="0" indent="-342900">
              <a:buFontTx/>
              <a:buChar char="-"/>
            </a:pPr>
            <a:r>
              <a:rPr lang="en-US" sz="2000" dirty="0"/>
              <a:t>TX and RX FIFOs (depth 8) buffer data on both sides.</a:t>
            </a:r>
          </a:p>
          <a:p>
            <a:pPr rtl="0">
              <a:buNone/>
            </a:pPr>
            <a:r>
              <a:rPr lang="en-US" sz="2000" b="1" dirty="0"/>
              <a:t>Results</a:t>
            </a:r>
            <a:endParaRPr lang="en-US" sz="2000" dirty="0"/>
          </a:p>
          <a:p>
            <a:pPr lvl="0" rtl="0"/>
            <a:r>
              <a:rPr lang="en-US" sz="2000" dirty="0"/>
              <a:t>-    Loopback test: 500/500 bytes data from [0;255] received correctly.</a:t>
            </a:r>
          </a:p>
          <a:p>
            <a:pPr rtl="0">
              <a:buNone/>
            </a:pPr>
            <a:r>
              <a:rPr lang="en-US" sz="2000" b="1" dirty="0"/>
              <a:t>Limitations</a:t>
            </a:r>
          </a:p>
          <a:p>
            <a:r>
              <a:rPr lang="en-US" sz="2000" b="1" dirty="0"/>
              <a:t>-    </a:t>
            </a:r>
            <a:r>
              <a:rPr lang="en-US" sz="2000" dirty="0"/>
              <a:t>FIFOs have no overflow flag: a byte written to a full RX FIFO is dropped.-    Tested only in loopback, where TX and RX share one baud tick; clock mismatch between devices is not yet tested.</a:t>
            </a:r>
          </a:p>
          <a:p>
            <a:pPr marL="285750" lvl="0" indent="-285750" rtl="0">
              <a:buFontTx/>
              <a:buChar char="-"/>
            </a:pPr>
            <a:r>
              <a:rPr lang="en-US" sz="2000" dirty="0"/>
              <a:t>Full 0x00–0xFF range, framing error (stop bit = 0) and false-start cases are not yet covered.</a:t>
            </a:r>
          </a:p>
          <a:p>
            <a:pPr marL="285750" lvl="0" indent="-285750">
              <a:buFontTx/>
              <a:buChar char="-"/>
            </a:pPr>
            <a:r>
              <a:rPr lang="en-US" sz="2000" dirty="0"/>
              <a:t>SVA checks ran only under constrained-random loopback traffic, which produces valid frames only. The RX transitions START→IDLE (false start), STOP→ERROR (stop bit = 0) and ERROR→IDLE (line returns high) have not been exercised by directed tests.</a:t>
            </a:r>
          </a:p>
          <a:p>
            <a:pPr marL="285750" lvl="0" indent="-285750" rtl="0">
              <a:buFontTx/>
              <a:buChar char="-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31915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1145</TotalTime>
  <Words>2326</Words>
  <Application>Microsoft Office PowerPoint</Application>
  <PresentationFormat>Widescreen</PresentationFormat>
  <Paragraphs>241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CXm Binh</cp:lastModifiedBy>
  <cp:revision>85</cp:revision>
  <dcterms:created xsi:type="dcterms:W3CDTF">2019-05-10T14:30:44Z</dcterms:created>
  <dcterms:modified xsi:type="dcterms:W3CDTF">2026-10-26T15:02:14Z</dcterms:modified>
</cp:coreProperties>
</file>